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9C287-4B9E-4ED2-AE8F-6C93186B4E11}" v="1" dt="2026-08-30T18:35:40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PS" userId="775ce12a5683f44e" providerId="LiveId" clId="{28487438-4DD6-495F-922D-18C521EC50C6}"/>
    <pc:docChg chg="modSld">
      <pc:chgData name="Akash PS" userId="775ce12a5683f44e" providerId="LiveId" clId="{28487438-4DD6-495F-922D-18C521EC50C6}" dt="2026-08-30T18:35:40.767" v="0"/>
      <pc:docMkLst>
        <pc:docMk/>
      </pc:docMkLst>
      <pc:sldChg chg="modSp">
        <pc:chgData name="Akash PS" userId="775ce12a5683f44e" providerId="LiveId" clId="{28487438-4DD6-495F-922D-18C521EC50C6}" dt="2026-08-30T18:35:40.767" v="0"/>
        <pc:sldMkLst>
          <pc:docMk/>
          <pc:sldMk cId="0" sldId="256"/>
        </pc:sldMkLst>
        <pc:spChg chg="mod">
          <ac:chgData name="Akash PS" userId="775ce12a5683f44e" providerId="LiveId" clId="{28487438-4DD6-495F-922D-18C521EC50C6}" dt="2026-08-30T18:35:40.767" v="0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6995" y="228737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883121" y="4118943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496929" y="1000125"/>
            <a:ext cx="17191459" cy="155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1"/>
              </a:lnSpc>
            </a:pPr>
            <a:endParaRPr/>
          </a:p>
          <a:p>
            <a:pPr algn="ctr">
              <a:lnSpc>
                <a:spcPts val="6061"/>
              </a:lnSpc>
            </a:pPr>
            <a:r>
              <a:rPr lang="en-US" sz="505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Scheme Matching for Marginalized Entrepreneurs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051699" y="-706308"/>
            <a:ext cx="12932906" cy="3010615"/>
            <a:chOff x="0" y="0"/>
            <a:chExt cx="17839897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39897" cy="4152900"/>
            </a:xfrm>
            <a:custGeom>
              <a:avLst/>
              <a:gdLst/>
              <a:ahLst/>
              <a:cxnLst/>
              <a:rect l="l" t="t" r="r" b="b"/>
              <a:pathLst>
                <a:path w="17839897" h="4152900">
                  <a:moveTo>
                    <a:pt x="0" y="0"/>
                  </a:moveTo>
                  <a:lnTo>
                    <a:pt x="17839897" y="0"/>
                  </a:lnTo>
                  <a:lnTo>
                    <a:pt x="17839897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r="-16180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7839897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204059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82922" y="2776238"/>
            <a:ext cx="14502832" cy="696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5"/>
              </a:lnSpc>
            </a:pPr>
            <a:endParaRPr dirty="0"/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SIH26092</a:t>
            </a:r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>
              <a:lnSpc>
                <a:spcPts val="7391"/>
              </a:lnSpc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AI-Driven Scheme Matching for Marginalized Entrepreneurs</a:t>
            </a:r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SIH26-A0H-T234</a:t>
            </a:r>
          </a:p>
          <a:p>
            <a:pPr marL="557359" lvl="1" indent="-278679" algn="just">
              <a:lnSpc>
                <a:spcPts val="7391"/>
              </a:lnSpc>
              <a:buFont typeface="Arial"/>
              <a:buChar char="•"/>
            </a:pPr>
            <a:r>
              <a:rPr lang="en-US" sz="307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</a:t>
            </a:r>
            <a:r>
              <a:rPr lang="en-US" sz="307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DataDrift</a:t>
            </a:r>
            <a:endParaRPr lang="en-US" sz="307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223109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320522" y="2188567"/>
            <a:ext cx="3271123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2318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  <a:p>
            <a:pPr algn="l">
              <a:lnSpc>
                <a:spcPts val="2781"/>
              </a:lnSpc>
            </a:pPr>
            <a:endParaRPr lang="en-US" sz="2318" b="1" u="sng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781"/>
              </a:lnSpc>
            </a:pPr>
            <a:r>
              <a:rPr lang="en-US" sz="2318" b="1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>
              <a:lnSpc>
                <a:spcPts val="2781"/>
              </a:lnSpc>
            </a:pPr>
            <a:endParaRPr lang="en-US" sz="2318" b="1">
              <a:solidFill>
                <a:srgbClr val="1F497D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781"/>
              </a:lnSpc>
              <a:spcBef>
                <a:spcPct val="0"/>
              </a:spcBef>
            </a:pPr>
            <a:endParaRPr lang="en-US" sz="2318" b="1">
              <a:solidFill>
                <a:srgbClr val="1F497D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2057198" y="2789732"/>
            <a:ext cx="5816406" cy="3373642"/>
            <a:chOff x="0" y="0"/>
            <a:chExt cx="1531893" cy="8885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1893" cy="888531"/>
            </a:xfrm>
            <a:custGeom>
              <a:avLst/>
              <a:gdLst/>
              <a:ahLst/>
              <a:cxnLst/>
              <a:rect l="l" t="t" r="r" b="b"/>
              <a:pathLst>
                <a:path w="1531893" h="888531">
                  <a:moveTo>
                    <a:pt x="67883" y="0"/>
                  </a:moveTo>
                  <a:lnTo>
                    <a:pt x="1464009" y="0"/>
                  </a:lnTo>
                  <a:cubicBezTo>
                    <a:pt x="1482013" y="0"/>
                    <a:pt x="1499280" y="7152"/>
                    <a:pt x="1512010" y="19883"/>
                  </a:cubicBezTo>
                  <a:cubicBezTo>
                    <a:pt x="1524741" y="32613"/>
                    <a:pt x="1531893" y="49880"/>
                    <a:pt x="1531893" y="67883"/>
                  </a:cubicBezTo>
                  <a:lnTo>
                    <a:pt x="1531893" y="820648"/>
                  </a:lnTo>
                  <a:cubicBezTo>
                    <a:pt x="1531893" y="838652"/>
                    <a:pt x="1524741" y="855918"/>
                    <a:pt x="1512010" y="868649"/>
                  </a:cubicBezTo>
                  <a:cubicBezTo>
                    <a:pt x="1499280" y="881379"/>
                    <a:pt x="1482013" y="888531"/>
                    <a:pt x="1464009" y="888531"/>
                  </a:cubicBezTo>
                  <a:lnTo>
                    <a:pt x="67883" y="888531"/>
                  </a:lnTo>
                  <a:cubicBezTo>
                    <a:pt x="49880" y="888531"/>
                    <a:pt x="32613" y="881379"/>
                    <a:pt x="19883" y="868649"/>
                  </a:cubicBezTo>
                  <a:cubicBezTo>
                    <a:pt x="7152" y="855918"/>
                    <a:pt x="0" y="838652"/>
                    <a:pt x="0" y="820648"/>
                  </a:cubicBezTo>
                  <a:lnTo>
                    <a:pt x="0" y="67883"/>
                  </a:lnTo>
                  <a:cubicBezTo>
                    <a:pt x="0" y="49880"/>
                    <a:pt x="7152" y="32613"/>
                    <a:pt x="19883" y="19883"/>
                  </a:cubicBezTo>
                  <a:cubicBezTo>
                    <a:pt x="32613" y="7152"/>
                    <a:pt x="49880" y="0"/>
                    <a:pt x="67883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531893" cy="907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u="sng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PROBLEM</a:t>
              </a:r>
            </a:p>
            <a:p>
              <a:pPr algn="ctr">
                <a:lnSpc>
                  <a:spcPts val="2160"/>
                </a:lnSpc>
              </a:pPr>
              <a:endParaRPr lang="en-US" sz="1800" b="1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Fragmented access: Beneficiaries must navigate multiple schemes, eligibility criteria and channel partners.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Poor decision support: It is difficult to determine the most suitable financial option and its affordability.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Application friction: Document requirements and partner selection can create delays, errors and repeated visits</a:t>
              </a:r>
            </a:p>
            <a:p>
              <a:pPr algn="ctr">
                <a:lnSpc>
                  <a:spcPts val="2160"/>
                </a:lnSpc>
              </a:pPr>
              <a:endPara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75300" y="2789732"/>
            <a:ext cx="5864700" cy="3373642"/>
            <a:chOff x="0" y="0"/>
            <a:chExt cx="1544612" cy="8885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44612" cy="888531"/>
            </a:xfrm>
            <a:custGeom>
              <a:avLst/>
              <a:gdLst/>
              <a:ahLst/>
              <a:cxnLst/>
              <a:rect l="l" t="t" r="r" b="b"/>
              <a:pathLst>
                <a:path w="1544612" h="888531">
                  <a:moveTo>
                    <a:pt x="67324" y="0"/>
                  </a:moveTo>
                  <a:lnTo>
                    <a:pt x="1477288" y="0"/>
                  </a:lnTo>
                  <a:cubicBezTo>
                    <a:pt x="1495143" y="0"/>
                    <a:pt x="1512268" y="7093"/>
                    <a:pt x="1524893" y="19719"/>
                  </a:cubicBezTo>
                  <a:cubicBezTo>
                    <a:pt x="1537519" y="32345"/>
                    <a:pt x="1544612" y="49469"/>
                    <a:pt x="1544612" y="67324"/>
                  </a:cubicBezTo>
                  <a:lnTo>
                    <a:pt x="1544612" y="821207"/>
                  </a:lnTo>
                  <a:cubicBezTo>
                    <a:pt x="1544612" y="858389"/>
                    <a:pt x="1514470" y="888531"/>
                    <a:pt x="1477288" y="888531"/>
                  </a:cubicBezTo>
                  <a:lnTo>
                    <a:pt x="67324" y="888531"/>
                  </a:lnTo>
                  <a:cubicBezTo>
                    <a:pt x="30142" y="888531"/>
                    <a:pt x="0" y="858389"/>
                    <a:pt x="0" y="821207"/>
                  </a:cubicBezTo>
                  <a:lnTo>
                    <a:pt x="0" y="67324"/>
                  </a:lnTo>
                  <a:cubicBezTo>
                    <a:pt x="0" y="30142"/>
                    <a:pt x="30142" y="0"/>
                    <a:pt x="67324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544612" cy="907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u="sng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OUR SOLUTION</a:t>
              </a:r>
            </a:p>
            <a:p>
              <a:pPr algn="ctr">
                <a:lnSpc>
                  <a:spcPts val="2160"/>
                </a:lnSpc>
              </a:pPr>
              <a:endParaRPr lang="en-US" sz="1800" b="1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One personalized platform that matches beneficiaries with suitable loans, subsidies and scholarships.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Supports the journey from scheme selection → financial planning → document readiness → partner selection.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Connects beneficiaries with suitable SCAs / Banks / NBFC-MFIs for application.</a:t>
              </a:r>
            </a:p>
            <a:p>
              <a:pPr algn="ctr">
                <a:lnSpc>
                  <a:spcPts val="2160"/>
                </a:lnSpc>
              </a:pPr>
              <a:endPara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1800" y="6304709"/>
            <a:ext cx="7864601" cy="3086100"/>
            <a:chOff x="0" y="0"/>
            <a:chExt cx="2071335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71335" cy="812800"/>
            </a:xfrm>
            <a:custGeom>
              <a:avLst/>
              <a:gdLst/>
              <a:ahLst/>
              <a:cxnLst/>
              <a:rect l="l" t="t" r="r" b="b"/>
              <a:pathLst>
                <a:path w="2071335" h="812800">
                  <a:moveTo>
                    <a:pt x="50204" y="0"/>
                  </a:moveTo>
                  <a:lnTo>
                    <a:pt x="2021131" y="0"/>
                  </a:lnTo>
                  <a:cubicBezTo>
                    <a:pt x="2034446" y="0"/>
                    <a:pt x="2047216" y="5289"/>
                    <a:pt x="2056631" y="14705"/>
                  </a:cubicBezTo>
                  <a:cubicBezTo>
                    <a:pt x="2066046" y="24120"/>
                    <a:pt x="2071335" y="36889"/>
                    <a:pt x="2071335" y="50204"/>
                  </a:cubicBezTo>
                  <a:lnTo>
                    <a:pt x="2071335" y="762596"/>
                  </a:lnTo>
                  <a:cubicBezTo>
                    <a:pt x="2071335" y="775911"/>
                    <a:pt x="2066046" y="788680"/>
                    <a:pt x="2056631" y="798095"/>
                  </a:cubicBezTo>
                  <a:cubicBezTo>
                    <a:pt x="2047216" y="807511"/>
                    <a:pt x="2034446" y="812800"/>
                    <a:pt x="2021131" y="812800"/>
                  </a:cubicBezTo>
                  <a:lnTo>
                    <a:pt x="50204" y="812800"/>
                  </a:lnTo>
                  <a:cubicBezTo>
                    <a:pt x="36889" y="812800"/>
                    <a:pt x="24120" y="807511"/>
                    <a:pt x="14705" y="798095"/>
                  </a:cubicBezTo>
                  <a:cubicBezTo>
                    <a:pt x="5289" y="788680"/>
                    <a:pt x="0" y="775911"/>
                    <a:pt x="0" y="762596"/>
                  </a:cubicBezTo>
                  <a:lnTo>
                    <a:pt x="0" y="50204"/>
                  </a:lnTo>
                  <a:cubicBezTo>
                    <a:pt x="0" y="36889"/>
                    <a:pt x="5289" y="24120"/>
                    <a:pt x="14705" y="14705"/>
                  </a:cubicBezTo>
                  <a:cubicBezTo>
                    <a:pt x="24120" y="5289"/>
                    <a:pt x="36889" y="0"/>
                    <a:pt x="50204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071335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u="sng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WHY OUR SOLUTION IS BETTER</a:t>
              </a:r>
            </a:p>
            <a:p>
              <a:pPr algn="ctr">
                <a:lnSpc>
                  <a:spcPts val="2160"/>
                </a:lnSpc>
              </a:pPr>
              <a:endParaRPr lang="en-US" sz="1800" b="1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Beyond discovery: recommends the most suitable path, not just available schemes.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Decision before application: comparison, affordability and What-If analysis help users evaluate options first.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End-to-end guidance: Need → Scheme → Plan → Documents → Partner → Application.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Bottom USP.From finding a scheme to finding the right financial path.</a:t>
              </a:r>
            </a:p>
            <a:p>
              <a:pPr algn="ctr">
                <a:lnSpc>
                  <a:spcPts val="2160"/>
                </a:lnSpc>
              </a:pPr>
              <a:endPara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08249" y="1604700"/>
            <a:ext cx="1239170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9"/>
              </a:lnSpc>
              <a:spcBef>
                <a:spcPct val="0"/>
              </a:spcBef>
            </a:pPr>
            <a:r>
              <a:rPr lang="en-US" sz="3657" b="1">
                <a:solidFill>
                  <a:srgbClr val="1F497D"/>
                </a:solidFill>
                <a:latin typeface="Arimo Bold"/>
                <a:ea typeface="Arimo Bold"/>
                <a:cs typeface="Arimo Bold"/>
                <a:sym typeface="Arimo Bold"/>
              </a:rPr>
              <a:t>One Platform. One Personalized Financial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8532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-90521" y="1552343"/>
            <a:ext cx="18469042" cy="8357229"/>
          </a:xfrm>
          <a:custGeom>
            <a:avLst/>
            <a:gdLst/>
            <a:ahLst/>
            <a:cxnLst/>
            <a:rect l="l" t="t" r="r" b="b"/>
            <a:pathLst>
              <a:path w="18469042" h="8357229">
                <a:moveTo>
                  <a:pt x="0" y="0"/>
                </a:moveTo>
                <a:lnTo>
                  <a:pt x="18469042" y="0"/>
                </a:lnTo>
                <a:lnTo>
                  <a:pt x="18469042" y="8357229"/>
                </a:lnTo>
                <a:lnTo>
                  <a:pt x="0" y="8357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19" b="-1519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68945" y="67853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04059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 flipH="1">
            <a:off x="8798545" y="1782353"/>
            <a:ext cx="0" cy="7137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9375300" y="1782353"/>
            <a:ext cx="8172665" cy="1279918"/>
            <a:chOff x="0" y="0"/>
            <a:chExt cx="2152472" cy="3370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52472" cy="337098"/>
            </a:xfrm>
            <a:custGeom>
              <a:avLst/>
              <a:gdLst/>
              <a:ahLst/>
              <a:cxnLst/>
              <a:rect l="l" t="t" r="r" b="b"/>
              <a:pathLst>
                <a:path w="2152472" h="337098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288786"/>
                  </a:lnTo>
                  <a:cubicBezTo>
                    <a:pt x="2152472" y="315468"/>
                    <a:pt x="2130841" y="337098"/>
                    <a:pt x="2104160" y="337098"/>
                  </a:cubicBezTo>
                  <a:lnTo>
                    <a:pt x="48312" y="337098"/>
                  </a:lnTo>
                  <a:cubicBezTo>
                    <a:pt x="35499" y="337098"/>
                    <a:pt x="23211" y="332008"/>
                    <a:pt x="14150" y="322947"/>
                  </a:cubicBezTo>
                  <a:cubicBezTo>
                    <a:pt x="5090" y="313887"/>
                    <a:pt x="0" y="301599"/>
                    <a:pt x="0" y="288786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152472" cy="35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75300" y="3214671"/>
            <a:ext cx="8172665" cy="1495474"/>
            <a:chOff x="0" y="0"/>
            <a:chExt cx="2152472" cy="3938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52472" cy="393870"/>
            </a:xfrm>
            <a:custGeom>
              <a:avLst/>
              <a:gdLst/>
              <a:ahLst/>
              <a:cxnLst/>
              <a:rect l="l" t="t" r="r" b="b"/>
              <a:pathLst>
                <a:path w="2152472" h="393870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345558"/>
                  </a:lnTo>
                  <a:cubicBezTo>
                    <a:pt x="2152472" y="372240"/>
                    <a:pt x="2130841" y="393870"/>
                    <a:pt x="2104160" y="393870"/>
                  </a:cubicBezTo>
                  <a:lnTo>
                    <a:pt x="48312" y="393870"/>
                  </a:lnTo>
                  <a:cubicBezTo>
                    <a:pt x="21630" y="393870"/>
                    <a:pt x="0" y="372240"/>
                    <a:pt x="0" y="345558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152472" cy="41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75300" y="4862529"/>
            <a:ext cx="8172665" cy="2391818"/>
            <a:chOff x="0" y="0"/>
            <a:chExt cx="2152472" cy="6299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52472" cy="629944"/>
            </a:xfrm>
            <a:custGeom>
              <a:avLst/>
              <a:gdLst/>
              <a:ahLst/>
              <a:cxnLst/>
              <a:rect l="l" t="t" r="r" b="b"/>
              <a:pathLst>
                <a:path w="2152472" h="629944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581632"/>
                  </a:lnTo>
                  <a:cubicBezTo>
                    <a:pt x="2152472" y="608314"/>
                    <a:pt x="2130841" y="629944"/>
                    <a:pt x="2104160" y="629944"/>
                  </a:cubicBezTo>
                  <a:lnTo>
                    <a:pt x="48312" y="629944"/>
                  </a:lnTo>
                  <a:cubicBezTo>
                    <a:pt x="21630" y="629944"/>
                    <a:pt x="0" y="608314"/>
                    <a:pt x="0" y="581632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152472" cy="648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9831761" y="5186395"/>
            <a:ext cx="5089579" cy="1833310"/>
          </a:xfrm>
          <a:custGeom>
            <a:avLst/>
            <a:gdLst/>
            <a:ahLst/>
            <a:cxnLst/>
            <a:rect l="l" t="t" r="r" b="b"/>
            <a:pathLst>
              <a:path w="5089579" h="1833310">
                <a:moveTo>
                  <a:pt x="0" y="0"/>
                </a:moveTo>
                <a:lnTo>
                  <a:pt x="5089579" y="0"/>
                </a:lnTo>
                <a:lnTo>
                  <a:pt x="5089579" y="1833310"/>
                </a:lnTo>
                <a:lnTo>
                  <a:pt x="0" y="1833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2" t="-1415" r="-12656" b="-11758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32991" y="1880925"/>
            <a:ext cx="52768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of the feasibility of the idea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2991" y="4014771"/>
            <a:ext cx="426104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0"/>
              </a:lnSpc>
              <a:spcBef>
                <a:spcPct val="0"/>
              </a:spcBef>
            </a:pPr>
            <a:r>
              <a:rPr lang="en-US" sz="2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challenges and risk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5639" y="2452671"/>
            <a:ext cx="724796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(less than 5L) and project cost decide the scheme- simple rule-based logic,not heavy AI.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5639" y="3233721"/>
            <a:ext cx="697426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partner locator needs only a Maps API layered on the existing 100+ channel Partner directory.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5639" y="4586304"/>
            <a:ext cx="697426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Partners dont publish live NPA or overdue status ,so a partner’s standing on file can go stale.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5463647"/>
            <a:ext cx="703120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Micro,Term and Education schemes overlap in purpose-a wrong cost estimate misroutes applicants.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2991" y="6162452"/>
            <a:ext cx="62151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0"/>
              </a:lnSpc>
              <a:spcBef>
                <a:spcPct val="0"/>
              </a:spcBef>
            </a:pPr>
            <a:r>
              <a:rPr lang="en-US" sz="2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Strategies for overcoming these challenges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6901922"/>
            <a:ext cx="703120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monthly eligibility and NPA data-sharing agreements directly with SCAs ,PSBs,RRBs,and NBFC-MFIs.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7768836"/>
            <a:ext cx="730490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521" lvl="1" indent="-236261" algn="l">
              <a:lnSpc>
                <a:spcPts val="2626"/>
              </a:lnSpc>
              <a:spcBef>
                <a:spcPct val="0"/>
              </a:spcBef>
              <a:buFont typeface="Arial"/>
              <a:buChar char="•"/>
            </a:pPr>
            <a:r>
              <a:rPr lang="en-US" sz="2188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one-screen confirmation of why a scheme fits - income,cost,purpose-catches errors early.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78301" y="1880925"/>
            <a:ext cx="314303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 u="sng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₹ 30 lakh crore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75300" y="2452671"/>
            <a:ext cx="817266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Addressable MSME credit gap in India -24% of total credit demant unmet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778301" y="3319446"/>
            <a:ext cx="314303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799" b="1" u="sng" strike="noStrike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35% vs 20%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75300" y="3871896"/>
            <a:ext cx="817266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Credit gap for women-led MSMEs vs male-led MSMEs - the widest demographic gap on record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240000" y="5262579"/>
            <a:ext cx="2133600" cy="152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204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India’s MSME credit penetration ,vs China and the US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75300" y="7431889"/>
            <a:ext cx="8172665" cy="1352583"/>
            <a:chOff x="0" y="0"/>
            <a:chExt cx="2152472" cy="3562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52472" cy="356236"/>
            </a:xfrm>
            <a:custGeom>
              <a:avLst/>
              <a:gdLst/>
              <a:ahLst/>
              <a:cxnLst/>
              <a:rect l="l" t="t" r="r" b="b"/>
              <a:pathLst>
                <a:path w="2152472" h="356236">
                  <a:moveTo>
                    <a:pt x="48312" y="0"/>
                  </a:moveTo>
                  <a:lnTo>
                    <a:pt x="2104160" y="0"/>
                  </a:lnTo>
                  <a:cubicBezTo>
                    <a:pt x="2116973" y="0"/>
                    <a:pt x="2129261" y="5090"/>
                    <a:pt x="2138321" y="14150"/>
                  </a:cubicBezTo>
                  <a:cubicBezTo>
                    <a:pt x="2147382" y="23211"/>
                    <a:pt x="2152472" y="35499"/>
                    <a:pt x="2152472" y="48312"/>
                  </a:cubicBezTo>
                  <a:lnTo>
                    <a:pt x="2152472" y="307924"/>
                  </a:lnTo>
                  <a:cubicBezTo>
                    <a:pt x="2152472" y="334606"/>
                    <a:pt x="2130841" y="356236"/>
                    <a:pt x="2104160" y="356236"/>
                  </a:cubicBezTo>
                  <a:lnTo>
                    <a:pt x="48312" y="356236"/>
                  </a:lnTo>
                  <a:cubicBezTo>
                    <a:pt x="35499" y="356236"/>
                    <a:pt x="23211" y="351146"/>
                    <a:pt x="14150" y="342086"/>
                  </a:cubicBezTo>
                  <a:cubicBezTo>
                    <a:pt x="5090" y="333025"/>
                    <a:pt x="0" y="320737"/>
                    <a:pt x="0" y="307924"/>
                  </a:cubicBezTo>
                  <a:lnTo>
                    <a:pt x="0" y="48312"/>
                  </a:lnTo>
                  <a:cubicBezTo>
                    <a:pt x="0" y="21630"/>
                    <a:pt x="21630" y="0"/>
                    <a:pt x="4831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152472" cy="375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778301" y="7460358"/>
            <a:ext cx="314303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799" b="1" u="sng" strike="noStrike">
                <a:solidFill>
                  <a:srgbClr val="000000">
                    <a:alpha val="67843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35%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63488" y="7965183"/>
            <a:ext cx="817266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Micro-enterprices still unregistered/informal,citing low awarness of schemes as a key reason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04059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04059" y="1792640"/>
            <a:ext cx="8569802" cy="3095399"/>
            <a:chOff x="0" y="0"/>
            <a:chExt cx="2257067" cy="8152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7067" cy="815249"/>
            </a:xfrm>
            <a:custGeom>
              <a:avLst/>
              <a:gdLst/>
              <a:ahLst/>
              <a:cxnLst/>
              <a:rect l="l" t="t" r="r" b="b"/>
              <a:pathLst>
                <a:path w="2257067" h="815249">
                  <a:moveTo>
                    <a:pt x="34329" y="0"/>
                  </a:moveTo>
                  <a:lnTo>
                    <a:pt x="2222738" y="0"/>
                  </a:lnTo>
                  <a:cubicBezTo>
                    <a:pt x="2231843" y="0"/>
                    <a:pt x="2240575" y="3617"/>
                    <a:pt x="2247012" y="10055"/>
                  </a:cubicBezTo>
                  <a:cubicBezTo>
                    <a:pt x="2253450" y="16493"/>
                    <a:pt x="2257067" y="25224"/>
                    <a:pt x="2257067" y="34329"/>
                  </a:cubicBezTo>
                  <a:lnTo>
                    <a:pt x="2257067" y="780920"/>
                  </a:lnTo>
                  <a:cubicBezTo>
                    <a:pt x="2257067" y="799879"/>
                    <a:pt x="2241698" y="815249"/>
                    <a:pt x="2222738" y="815249"/>
                  </a:cubicBezTo>
                  <a:lnTo>
                    <a:pt x="34329" y="815249"/>
                  </a:lnTo>
                  <a:cubicBezTo>
                    <a:pt x="15370" y="815249"/>
                    <a:pt x="0" y="799879"/>
                    <a:pt x="0" y="780920"/>
                  </a:cubicBezTo>
                  <a:lnTo>
                    <a:pt x="0" y="34329"/>
                  </a:lnTo>
                  <a:cubicBezTo>
                    <a:pt x="0" y="15370"/>
                    <a:pt x="15370" y="0"/>
                    <a:pt x="34329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257067" cy="834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4888301"/>
            <a:ext cx="18288000" cy="2256312"/>
          </a:xfrm>
          <a:custGeom>
            <a:avLst/>
            <a:gdLst/>
            <a:ahLst/>
            <a:cxnLst/>
            <a:rect l="l" t="t" r="r" b="b"/>
            <a:pathLst>
              <a:path w="18288000" h="2256312">
                <a:moveTo>
                  <a:pt x="0" y="0"/>
                </a:moveTo>
                <a:lnTo>
                  <a:pt x="18288000" y="0"/>
                </a:lnTo>
                <a:lnTo>
                  <a:pt x="18288000" y="2256312"/>
                </a:lnTo>
                <a:lnTo>
                  <a:pt x="0" y="22563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144000" y="1792640"/>
            <a:ext cx="8900903" cy="3108442"/>
            <a:chOff x="0" y="0"/>
            <a:chExt cx="2344271" cy="8186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44271" cy="818684"/>
            </a:xfrm>
            <a:custGeom>
              <a:avLst/>
              <a:gdLst/>
              <a:ahLst/>
              <a:cxnLst/>
              <a:rect l="l" t="t" r="r" b="b"/>
              <a:pathLst>
                <a:path w="2344271" h="818684">
                  <a:moveTo>
                    <a:pt x="25224" y="0"/>
                  </a:moveTo>
                  <a:lnTo>
                    <a:pt x="2319047" y="0"/>
                  </a:lnTo>
                  <a:cubicBezTo>
                    <a:pt x="2332978" y="0"/>
                    <a:pt x="2344271" y="11293"/>
                    <a:pt x="2344271" y="25224"/>
                  </a:cubicBezTo>
                  <a:lnTo>
                    <a:pt x="2344271" y="793460"/>
                  </a:lnTo>
                  <a:cubicBezTo>
                    <a:pt x="2344271" y="807391"/>
                    <a:pt x="2332978" y="818684"/>
                    <a:pt x="2319047" y="818684"/>
                  </a:cubicBezTo>
                  <a:lnTo>
                    <a:pt x="25224" y="818684"/>
                  </a:lnTo>
                  <a:cubicBezTo>
                    <a:pt x="11293" y="818684"/>
                    <a:pt x="0" y="807391"/>
                    <a:pt x="0" y="793460"/>
                  </a:cubicBezTo>
                  <a:lnTo>
                    <a:pt x="0" y="25224"/>
                  </a:lnTo>
                  <a:cubicBezTo>
                    <a:pt x="0" y="11293"/>
                    <a:pt x="11293" y="0"/>
                    <a:pt x="25224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344271" cy="837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0" y="2078426"/>
            <a:ext cx="453816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WITH OUR SYSTEM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059" y="2849951"/>
            <a:ext cx="9178570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151" lvl="1" indent="-309576" algn="l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Enter profile once, get matched everywhere</a:t>
            </a:r>
          </a:p>
          <a:p>
            <a:pPr marL="619151" lvl="1" indent="-309576" algn="l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Automatic, plain-language eligibility analysis</a:t>
            </a:r>
          </a:p>
          <a:p>
            <a:pPr marL="619151" lvl="1" indent="-309576" algn="l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Personalized, ranked scheme recommendations</a:t>
            </a:r>
          </a:p>
          <a:p>
            <a:pPr marL="619151" lvl="1" indent="-309576" algn="l">
              <a:lnSpc>
                <a:spcPts val="3441"/>
              </a:lnSpc>
              <a:buFont typeface="Arial"/>
              <a:buChar char="•"/>
            </a:pPr>
            <a:r>
              <a:rPr lang="en-US" sz="2867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Discover potentially complementary schemes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0" y="7268438"/>
            <a:ext cx="535670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8"/>
              </a:lnSpc>
              <a:spcBef>
                <a:spcPct val="0"/>
              </a:spcBef>
            </a:pPr>
            <a:r>
              <a:rPr lang="en-US" sz="331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EXPECTED IMPACT             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0742" y="7953723"/>
            <a:ext cx="8054854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utilization of government schemes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 in entrepreneurship &amp; MSME growth 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Employment generation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73861" y="7953723"/>
            <a:ext cx="866507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Inclusive and sustainable economic growth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support model across states, languages &amp; sectors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5300" y="1944963"/>
            <a:ext cx="802977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GOVERNANCE &amp; POLICY INTELLIGENCE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05025" y="2680176"/>
            <a:ext cx="8724133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614" lvl="1" indent="-293807" algn="l">
              <a:lnSpc>
                <a:spcPts val="3266"/>
              </a:lnSpc>
              <a:buAutoNum type="arabicPeriod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Strategic government value</a:t>
            </a:r>
          </a:p>
          <a:p>
            <a:pPr marL="587614" lvl="1" indent="-293807" algn="l">
              <a:lnSpc>
                <a:spcPts val="3266"/>
              </a:lnSpc>
              <a:buAutoNum type="arabicPeriod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Policy &amp; governance insights</a:t>
            </a:r>
          </a:p>
          <a:p>
            <a:pPr marL="587614" lvl="1" indent="-293807" algn="l">
              <a:lnSpc>
                <a:spcPts val="3266"/>
              </a:lnSpc>
              <a:buAutoNum type="arabicPeriod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Government decision support</a:t>
            </a:r>
          </a:p>
          <a:p>
            <a:pPr marL="587614" lvl="1" indent="-293807" algn="l">
              <a:lnSpc>
                <a:spcPts val="3266"/>
              </a:lnSpc>
              <a:buAutoNum type="arabicPeriod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System-level governance benefits</a:t>
            </a:r>
          </a:p>
          <a:p>
            <a:pPr marL="587614" lvl="1" indent="-293807" algn="l">
              <a:lnSpc>
                <a:spcPts val="3266"/>
              </a:lnSpc>
              <a:buAutoNum type="arabicPeriod"/>
            </a:pPr>
            <a:r>
              <a:rPr lang="en-US" sz="2721">
                <a:solidFill>
                  <a:srgbClr val="DCE6F2"/>
                </a:solidFill>
                <a:latin typeface="Arimo"/>
                <a:ea typeface="Arimo"/>
                <a:cs typeface="Arimo"/>
                <a:sym typeface="Arimo"/>
              </a:rPr>
              <a:t>Policy intelligence &amp; oversight</a:t>
            </a:r>
          </a:p>
          <a:p>
            <a:pPr algn="l">
              <a:lnSpc>
                <a:spcPts val="3266"/>
              </a:lnSpc>
            </a:pPr>
            <a:endParaRPr lang="en-US" sz="2721">
              <a:solidFill>
                <a:srgbClr val="DCE6F2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04059" y="157425"/>
            <a:ext cx="2055316" cy="1742551"/>
          </a:xfrm>
          <a:custGeom>
            <a:avLst/>
            <a:gdLst/>
            <a:ahLst/>
            <a:cxnLst/>
            <a:rect l="l" t="t" r="r" b="b"/>
            <a:pathLst>
              <a:path w="2055316" h="1742551">
                <a:moveTo>
                  <a:pt x="0" y="0"/>
                </a:moveTo>
                <a:lnTo>
                  <a:pt x="2055316" y="0"/>
                </a:lnTo>
                <a:lnTo>
                  <a:pt x="2055316" y="1742550"/>
                </a:lnTo>
                <a:lnTo>
                  <a:pt x="0" y="1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204059" y="1785759"/>
            <a:ext cx="7863837" cy="7472541"/>
            <a:chOff x="0" y="0"/>
            <a:chExt cx="957107" cy="9093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57107" cy="909320"/>
            </a:xfrm>
            <a:custGeom>
              <a:avLst/>
              <a:gdLst/>
              <a:ahLst/>
              <a:cxnLst/>
              <a:rect l="l" t="t" r="r" b="b"/>
              <a:pathLst>
                <a:path w="957107" h="909320">
                  <a:moveTo>
                    <a:pt x="957107" y="39380"/>
                  </a:moveTo>
                  <a:lnTo>
                    <a:pt x="957107" y="869940"/>
                  </a:lnTo>
                  <a:cubicBezTo>
                    <a:pt x="957107" y="880384"/>
                    <a:pt x="952958" y="890401"/>
                    <a:pt x="945572" y="897786"/>
                  </a:cubicBezTo>
                  <a:cubicBezTo>
                    <a:pt x="938187" y="905171"/>
                    <a:pt x="928171" y="909320"/>
                    <a:pt x="917727" y="909320"/>
                  </a:cubicBezTo>
                  <a:lnTo>
                    <a:pt x="39380" y="909320"/>
                  </a:lnTo>
                  <a:cubicBezTo>
                    <a:pt x="28936" y="909320"/>
                    <a:pt x="18919" y="905171"/>
                    <a:pt x="11534" y="897786"/>
                  </a:cubicBezTo>
                  <a:cubicBezTo>
                    <a:pt x="4149" y="890401"/>
                    <a:pt x="0" y="880384"/>
                    <a:pt x="0" y="869940"/>
                  </a:cubicBezTo>
                  <a:lnTo>
                    <a:pt x="0" y="39380"/>
                  </a:lnTo>
                  <a:cubicBezTo>
                    <a:pt x="0" y="28936"/>
                    <a:pt x="4149" y="18919"/>
                    <a:pt x="11534" y="11534"/>
                  </a:cubicBezTo>
                  <a:cubicBezTo>
                    <a:pt x="18919" y="4149"/>
                    <a:pt x="28936" y="0"/>
                    <a:pt x="39380" y="0"/>
                  </a:cubicBezTo>
                  <a:lnTo>
                    <a:pt x="917727" y="0"/>
                  </a:lnTo>
                  <a:cubicBezTo>
                    <a:pt x="939476" y="0"/>
                    <a:pt x="957107" y="17631"/>
                    <a:pt x="957107" y="3938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57107" cy="92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51291" y="1785759"/>
            <a:ext cx="9793612" cy="7599058"/>
            <a:chOff x="0" y="0"/>
            <a:chExt cx="2579387" cy="20013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79388" cy="2001398"/>
            </a:xfrm>
            <a:custGeom>
              <a:avLst/>
              <a:gdLst/>
              <a:ahLst/>
              <a:cxnLst/>
              <a:rect l="l" t="t" r="r" b="b"/>
              <a:pathLst>
                <a:path w="2579388" h="2001398">
                  <a:moveTo>
                    <a:pt x="15810" y="0"/>
                  </a:moveTo>
                  <a:lnTo>
                    <a:pt x="2563577" y="0"/>
                  </a:lnTo>
                  <a:cubicBezTo>
                    <a:pt x="2572309" y="0"/>
                    <a:pt x="2579388" y="7078"/>
                    <a:pt x="2579388" y="15810"/>
                  </a:cubicBezTo>
                  <a:lnTo>
                    <a:pt x="2579388" y="1985588"/>
                  </a:lnTo>
                  <a:cubicBezTo>
                    <a:pt x="2579388" y="1989781"/>
                    <a:pt x="2577722" y="1993802"/>
                    <a:pt x="2574757" y="1996767"/>
                  </a:cubicBezTo>
                  <a:cubicBezTo>
                    <a:pt x="2571792" y="1999732"/>
                    <a:pt x="2567770" y="2001398"/>
                    <a:pt x="2563577" y="2001398"/>
                  </a:cubicBezTo>
                  <a:lnTo>
                    <a:pt x="15810" y="2001398"/>
                  </a:lnTo>
                  <a:cubicBezTo>
                    <a:pt x="11617" y="2001398"/>
                    <a:pt x="7596" y="1999732"/>
                    <a:pt x="4631" y="1996767"/>
                  </a:cubicBezTo>
                  <a:cubicBezTo>
                    <a:pt x="1666" y="1993802"/>
                    <a:pt x="0" y="1989781"/>
                    <a:pt x="0" y="1985588"/>
                  </a:cubicBezTo>
                  <a:lnTo>
                    <a:pt x="0" y="15810"/>
                  </a:lnTo>
                  <a:cubicBezTo>
                    <a:pt x="0" y="11617"/>
                    <a:pt x="1666" y="7596"/>
                    <a:pt x="4631" y="4631"/>
                  </a:cubicBezTo>
                  <a:cubicBezTo>
                    <a:pt x="7596" y="1666"/>
                    <a:pt x="11617" y="0"/>
                    <a:pt x="1581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2579387" cy="20204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2036" y="1880925"/>
            <a:ext cx="7053104" cy="45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  <a:spcBef>
                <a:spcPct val="0"/>
              </a:spcBef>
            </a:pPr>
            <a:r>
              <a:rPr lang="en-US" sz="29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EXISTING GOVERNMENT ECOSYSTEM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6585" y="2664929"/>
            <a:ext cx="7343911" cy="601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myScheme </a:t>
            </a:r>
          </a:p>
          <a:p>
            <a:pPr algn="l">
              <a:lnSpc>
                <a:spcPts val="3387"/>
              </a:lnSpc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discovering government schemes</a:t>
            </a:r>
          </a:p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DBT Bharat </a:t>
            </a:r>
          </a:p>
          <a:p>
            <a:pPr algn="l">
              <a:lnSpc>
                <a:spcPts val="3387"/>
              </a:lnSpc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Tracks implementation of Direct Benefit Transfer</a:t>
            </a: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schemes </a:t>
            </a: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</a:p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India.gov.in </a:t>
            </a:r>
          </a:p>
          <a:p>
            <a:pPr algn="l">
              <a:lnSpc>
                <a:spcPts val="3387"/>
              </a:lnSpc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          </a:t>
            </a: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Central portal providing government scheme information</a:t>
            </a:r>
          </a:p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data.gov.in</a:t>
            </a:r>
          </a:p>
          <a:p>
            <a:pPr algn="l">
              <a:lnSpc>
                <a:spcPts val="3387"/>
              </a:lnSpc>
            </a:pPr>
            <a:r>
              <a:rPr lang="en-US" sz="28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Government datasets and open data</a:t>
            </a:r>
          </a:p>
          <a:p>
            <a:pPr algn="l">
              <a:lnSpc>
                <a:spcPts val="3387"/>
              </a:lnSpc>
            </a:pPr>
            <a:endParaRPr lang="en-US" sz="282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https://nsfdc.nic.in/ </a:t>
            </a:r>
          </a:p>
          <a:p>
            <a:pPr marL="609419" lvl="1" indent="-304710" algn="l">
              <a:lnSpc>
                <a:spcPts val="3387"/>
              </a:lnSpc>
              <a:buFont typeface="Arial"/>
              <a:buChar char="•"/>
            </a:pPr>
            <a:r>
              <a:rPr lang="en-US" sz="282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https://nsfdc.nic.in/faqs</a:t>
            </a:r>
          </a:p>
          <a:p>
            <a:pPr algn="l">
              <a:lnSpc>
                <a:spcPts val="3387"/>
              </a:lnSpc>
            </a:pPr>
            <a:endParaRPr lang="en-US" sz="2822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10993" y="1964841"/>
            <a:ext cx="8848307" cy="741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34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Statistics &amp; References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59.09 crore PMJDY beneficiaries/accounts, showing the huge potential user base for financial-service platforms.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₹3.17 lakh crore in PMJDY deposits, highlighting the scale of India's formal financial ecosystem.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11,556 education-loan subsidy claims in Andhra Pradesh, with about ₹31.85 crore in subsidy disbursement.</a:t>
            </a:r>
          </a:p>
          <a:p>
            <a:pPr algn="l">
              <a:lnSpc>
                <a:spcPts val="2810"/>
              </a:lnSpc>
            </a:pPr>
            <a:endParaRPr lang="en-US" sz="23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810"/>
              </a:lnSpc>
            </a:pPr>
            <a:r>
              <a:rPr lang="en-US" sz="234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References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PM Jan-Dhan Yojana – Official Statistics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myScheme – Government Schemes Portal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National Scholarship Portal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PM-Vidyalaxmi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JanSamarth</a:t>
            </a:r>
          </a:p>
          <a:p>
            <a:pPr marL="505740" lvl="1" indent="-252870" algn="l">
              <a:lnSpc>
                <a:spcPts val="2810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RBI Statistics</a:t>
            </a:r>
          </a:p>
          <a:p>
            <a:pPr algn="l">
              <a:lnSpc>
                <a:spcPts val="2810"/>
              </a:lnSpc>
            </a:pPr>
            <a:endParaRPr lang="en-US" sz="2342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810"/>
              </a:lnSpc>
            </a:pPr>
            <a:r>
              <a:rPr lang="en-US" sz="23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These statistics demonstrate the large beneficiary base and significant financial support available, while existing portals show that scheme discovery and applications are fragmented—supporting the need for your proposed one-stop personalized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Custom</PresentationFormat>
  <Paragraphs>120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Times New Roman Bold</vt:lpstr>
      <vt:lpstr>Times New Roman</vt:lpstr>
      <vt:lpstr>Arial</vt:lpstr>
      <vt:lpstr>Garamond Bold</vt:lpstr>
      <vt:lpstr>Arimo</vt:lpstr>
      <vt:lpstr>Arial Bold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cp:lastModifiedBy>Akash PS</cp:lastModifiedBy>
  <cp:revision>1</cp:revision>
  <dcterms:created xsi:type="dcterms:W3CDTF">2006-08-16T00:00:00Z</dcterms:created>
  <dcterms:modified xsi:type="dcterms:W3CDTF">2026-08-30T18:35:44Z</dcterms:modified>
  <dc:identifier>DAHTgv1IGJ0</dc:identifier>
</cp:coreProperties>
</file>
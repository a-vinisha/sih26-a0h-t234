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Garamond Bold" charset="1" panose="02020804030307010803"/>
      <p:regular r:id="rId13"/>
    </p:embeddedFont>
    <p:embeddedFont>
      <p:font typeface="Arial Bold" charset="1" panose="020B0704020202020204"/>
      <p:regular r:id="rId14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20"/>
    </p:embeddedFont>
    <p:embeddedFont>
      <p:font typeface="Times New Roman" charset="1" panose="02020603050405020304"/>
      <p:regular r:id="rId22"/>
    </p:embeddedFont>
    <p:embeddedFont>
      <p:font typeface="Arial" charset="1" panose="020B0604020202020204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notesMasters/notesMaster1.xml" Type="http://schemas.openxmlformats.org/officeDocument/2006/relationships/notesMaster"/><Relationship Id="rId16" Target="theme/theme2.xml" Type="http://schemas.openxmlformats.org/officeDocument/2006/relationships/theme"/><Relationship Id="rId17" Target="notesSlides/notesSlide1.xml" Type="http://schemas.openxmlformats.org/officeDocument/2006/relationships/notesSlide"/><Relationship Id="rId18" Target="fonts/font18.fntdata" Type="http://schemas.openxmlformats.org/officeDocument/2006/relationships/font"/><Relationship Id="rId19" Target="notesSlides/notesSlide2.xml" Type="http://schemas.openxmlformats.org/officeDocument/2006/relationships/notes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notesSlides/notesSlide3.xml" Type="http://schemas.openxmlformats.org/officeDocument/2006/relationships/notesSlide"/><Relationship Id="rId22" Target="fonts/font22.fntdata" Type="http://schemas.openxmlformats.org/officeDocument/2006/relationships/font"/><Relationship Id="rId23" Target="notesSlides/notesSlide4.xml" Type="http://schemas.openxmlformats.org/officeDocument/2006/relationships/notesSlide"/><Relationship Id="rId24" Target="fonts/font24.fntdata" Type="http://schemas.openxmlformats.org/officeDocument/2006/relationships/font"/><Relationship Id="rId25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4.jpeg" Type="http://schemas.openxmlformats.org/officeDocument/2006/relationships/image"/><Relationship Id="rId4" Target="../media/image6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5.png" Type="http://schemas.openxmlformats.org/officeDocument/2006/relationships/image"/><Relationship Id="rId4" Target="../media/image4.jpeg" Type="http://schemas.openxmlformats.org/officeDocument/2006/relationships/image"/><Relationship Id="rId5" Target="../media/image6.png" Type="http://schemas.openxmlformats.org/officeDocument/2006/relationships/image"/><Relationship Id="rId6" Target="../media/image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4.jpeg" Type="http://schemas.openxmlformats.org/officeDocument/2006/relationships/image"/><Relationship Id="rId4" Target="../media/image6.png" Type="http://schemas.openxmlformats.org/officeDocument/2006/relationships/image"/><Relationship Id="rId5" Target="../media/image5.png" Type="http://schemas.openxmlformats.org/officeDocument/2006/relationships/image"/><Relationship Id="rId6" Target="../media/image8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4.jpeg" Type="http://schemas.openxmlformats.org/officeDocument/2006/relationships/image"/><Relationship Id="rId4" Target="../media/image6.png" Type="http://schemas.openxmlformats.org/officeDocument/2006/relationships/image"/><Relationship Id="rId5" Target="../media/image5.png" Type="http://schemas.openxmlformats.org/officeDocument/2006/relationships/image"/><Relationship Id="rId6" Target="../media/image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4.jpeg" Type="http://schemas.openxmlformats.org/officeDocument/2006/relationships/image"/><Relationship Id="rId4" Target="../media/image6.png" Type="http://schemas.openxmlformats.org/officeDocument/2006/relationships/image"/><Relationship Id="rId5" Target="../media/image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086995" y="2287372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2"/>
                </a:lnTo>
                <a:lnTo>
                  <a:pt x="0" y="77324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2883121" y="4118943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496929" y="1000125"/>
            <a:ext cx="17191459" cy="1552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61"/>
              </a:lnSpc>
            </a:pPr>
          </a:p>
          <a:p>
            <a:pPr algn="ctr">
              <a:lnSpc>
                <a:spcPts val="6061"/>
              </a:lnSpc>
            </a:pPr>
            <a:r>
              <a:rPr lang="en-US" sz="5051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AI-Driven Scheme Matching for Marginalized Entrepreneurs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051699" y="-706308"/>
            <a:ext cx="12932906" cy="3010615"/>
            <a:chOff x="0" y="0"/>
            <a:chExt cx="17839897" cy="41529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7839897" cy="4152900"/>
            </a:xfrm>
            <a:custGeom>
              <a:avLst/>
              <a:gdLst/>
              <a:ahLst/>
              <a:cxnLst/>
              <a:rect r="r" b="b" t="t" l="l"/>
              <a:pathLst>
                <a:path h="4152900" w="17839897">
                  <a:moveTo>
                    <a:pt x="0" y="0"/>
                  </a:moveTo>
                  <a:lnTo>
                    <a:pt x="17839897" y="0"/>
                  </a:lnTo>
                  <a:lnTo>
                    <a:pt x="17839897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-16180" b="-47246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7839897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204059" y="157425"/>
            <a:ext cx="2055316" cy="1742551"/>
          </a:xfrm>
          <a:custGeom>
            <a:avLst/>
            <a:gdLst/>
            <a:ahLst/>
            <a:cxnLst/>
            <a:rect r="r" b="b" t="t" l="l"/>
            <a:pathLst>
              <a:path h="1742551" w="2055316">
                <a:moveTo>
                  <a:pt x="0" y="0"/>
                </a:moveTo>
                <a:lnTo>
                  <a:pt x="2055316" y="0"/>
                </a:lnTo>
                <a:lnTo>
                  <a:pt x="2055316" y="1742550"/>
                </a:lnTo>
                <a:lnTo>
                  <a:pt x="0" y="17425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782922" y="2776238"/>
            <a:ext cx="14502832" cy="68083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95"/>
              </a:lnSpc>
            </a:pPr>
          </a:p>
          <a:p>
            <a:pPr algn="just" marL="557359" indent="-278679" lvl="1">
              <a:lnSpc>
                <a:spcPts val="7391"/>
              </a:lnSpc>
              <a:buFont typeface="Arial"/>
              <a:buChar char="•"/>
            </a:pPr>
            <a:r>
              <a:rPr lang="en-US" b="true" sz="307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SIH26092</a:t>
            </a:r>
          </a:p>
          <a:p>
            <a:pPr algn="just" marL="557359" indent="-278679" lvl="1">
              <a:lnSpc>
                <a:spcPts val="7391"/>
              </a:lnSpc>
              <a:buFont typeface="Arial"/>
              <a:buChar char="•"/>
            </a:pPr>
            <a:r>
              <a:rPr lang="en-US" b="true" sz="307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</a:t>
            </a:r>
          </a:p>
          <a:p>
            <a:pPr algn="just">
              <a:lnSpc>
                <a:spcPts val="7391"/>
              </a:lnSpc>
            </a:pPr>
            <a:r>
              <a:rPr lang="en-US" sz="307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          AI-Driven Scheme Matching for Marginalized Entrepreneurs</a:t>
            </a:r>
          </a:p>
          <a:p>
            <a:pPr algn="just" marL="557359" indent="-278679" lvl="1">
              <a:lnSpc>
                <a:spcPts val="7391"/>
              </a:lnSpc>
              <a:buFont typeface="Arial"/>
              <a:buChar char="•"/>
            </a:pPr>
            <a:r>
              <a:rPr lang="en-US" b="true" sz="307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Smart Automation</a:t>
            </a:r>
          </a:p>
          <a:p>
            <a:pPr algn="just" marL="557359" indent="-278679" lvl="1">
              <a:lnSpc>
                <a:spcPts val="7391"/>
              </a:lnSpc>
              <a:buFont typeface="Arial"/>
              <a:buChar char="•"/>
            </a:pPr>
            <a:r>
              <a:rPr lang="en-US" b="true" sz="307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Software</a:t>
            </a:r>
          </a:p>
          <a:p>
            <a:pPr algn="just" marL="557359" indent="-278679" lvl="1">
              <a:lnSpc>
                <a:spcPts val="7391"/>
              </a:lnSpc>
              <a:buFont typeface="Arial"/>
              <a:buChar char="•"/>
            </a:pPr>
            <a:r>
              <a:rPr lang="en-US" b="true" sz="307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 </a:t>
            </a:r>
          </a:p>
          <a:p>
            <a:pPr algn="just" marL="557359" indent="-278679" lvl="1">
              <a:lnSpc>
                <a:spcPts val="7391"/>
              </a:lnSpc>
              <a:buFont typeface="Arial"/>
              <a:buChar char="•"/>
            </a:pPr>
            <a:r>
              <a:rPr lang="en-US" b="true" sz="307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 (Registered on portal) DataDrift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1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74501" y="0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</a:p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IDEA TITLE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223109" y="157425"/>
            <a:ext cx="2055316" cy="1742551"/>
          </a:xfrm>
          <a:custGeom>
            <a:avLst/>
            <a:gdLst/>
            <a:ahLst/>
            <a:cxnLst/>
            <a:rect r="r" b="b" t="t" l="l"/>
            <a:pathLst>
              <a:path h="1742551" w="2055316">
                <a:moveTo>
                  <a:pt x="0" y="0"/>
                </a:moveTo>
                <a:lnTo>
                  <a:pt x="2055316" y="0"/>
                </a:lnTo>
                <a:lnTo>
                  <a:pt x="2055316" y="1742550"/>
                </a:lnTo>
                <a:lnTo>
                  <a:pt x="0" y="17425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7320522" y="2188567"/>
            <a:ext cx="3271123" cy="1781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81"/>
              </a:lnSpc>
            </a:pPr>
            <a:r>
              <a:rPr lang="en-US" b="true" sz="2318" u="sng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PROPOSED SOLUTION</a:t>
            </a:r>
          </a:p>
          <a:p>
            <a:pPr algn="l">
              <a:lnSpc>
                <a:spcPts val="2781"/>
              </a:lnSpc>
            </a:pPr>
          </a:p>
          <a:p>
            <a:pPr algn="l">
              <a:lnSpc>
                <a:spcPts val="2781"/>
              </a:lnSpc>
            </a:pPr>
            <a:r>
              <a:rPr lang="en-US" sz="2318" b="true">
                <a:solidFill>
                  <a:srgbClr val="1F497D"/>
                </a:solidFill>
                <a:latin typeface="Arimo Bold"/>
                <a:ea typeface="Arimo Bold"/>
                <a:cs typeface="Arimo Bold"/>
                <a:sym typeface="Arimo Bold"/>
              </a:rPr>
              <a:t>.</a:t>
            </a:r>
          </a:p>
          <a:p>
            <a:pPr algn="l">
              <a:lnSpc>
                <a:spcPts val="2781"/>
              </a:lnSpc>
            </a:pPr>
          </a:p>
          <a:p>
            <a:pPr algn="l">
              <a:lnSpc>
                <a:spcPts val="2781"/>
              </a:lnSpc>
              <a:spcBef>
                <a:spcPct val="0"/>
              </a:spcBef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2057198" y="2789732"/>
            <a:ext cx="5816406" cy="3373642"/>
            <a:chOff x="0" y="0"/>
            <a:chExt cx="1531893" cy="88853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531893" cy="888531"/>
            </a:xfrm>
            <a:custGeom>
              <a:avLst/>
              <a:gdLst/>
              <a:ahLst/>
              <a:cxnLst/>
              <a:rect r="r" b="b" t="t" l="l"/>
              <a:pathLst>
                <a:path h="888531" w="1531893">
                  <a:moveTo>
                    <a:pt x="67883" y="0"/>
                  </a:moveTo>
                  <a:lnTo>
                    <a:pt x="1464009" y="0"/>
                  </a:lnTo>
                  <a:cubicBezTo>
                    <a:pt x="1482013" y="0"/>
                    <a:pt x="1499280" y="7152"/>
                    <a:pt x="1512010" y="19883"/>
                  </a:cubicBezTo>
                  <a:cubicBezTo>
                    <a:pt x="1524741" y="32613"/>
                    <a:pt x="1531893" y="49880"/>
                    <a:pt x="1531893" y="67883"/>
                  </a:cubicBezTo>
                  <a:lnTo>
                    <a:pt x="1531893" y="820648"/>
                  </a:lnTo>
                  <a:cubicBezTo>
                    <a:pt x="1531893" y="838652"/>
                    <a:pt x="1524741" y="855918"/>
                    <a:pt x="1512010" y="868649"/>
                  </a:cubicBezTo>
                  <a:cubicBezTo>
                    <a:pt x="1499280" y="881379"/>
                    <a:pt x="1482013" y="888531"/>
                    <a:pt x="1464009" y="888531"/>
                  </a:cubicBezTo>
                  <a:lnTo>
                    <a:pt x="67883" y="888531"/>
                  </a:lnTo>
                  <a:cubicBezTo>
                    <a:pt x="49880" y="888531"/>
                    <a:pt x="32613" y="881379"/>
                    <a:pt x="19883" y="868649"/>
                  </a:cubicBezTo>
                  <a:cubicBezTo>
                    <a:pt x="7152" y="855918"/>
                    <a:pt x="0" y="838652"/>
                    <a:pt x="0" y="820648"/>
                  </a:cubicBezTo>
                  <a:lnTo>
                    <a:pt x="0" y="67883"/>
                  </a:lnTo>
                  <a:cubicBezTo>
                    <a:pt x="0" y="49880"/>
                    <a:pt x="7152" y="32613"/>
                    <a:pt x="19883" y="19883"/>
                  </a:cubicBezTo>
                  <a:cubicBezTo>
                    <a:pt x="32613" y="7152"/>
                    <a:pt x="49880" y="0"/>
                    <a:pt x="67883" y="0"/>
                  </a:cubicBez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531893" cy="9075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b="true" sz="1800" u="sng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THE PROBLEM</a:t>
              </a:r>
            </a:p>
            <a:p>
              <a:pPr algn="ctr">
                <a:lnSpc>
                  <a:spcPts val="2160"/>
                </a:lnSpc>
              </a:pP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Fragmented access: Beneficiaries must navigate multiple schemes, eligibility criteria and channel partners.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Poor decision support: It is difficult to determine the most suitable financial option and its affordability.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Application friction: Document requirements and partner selection can create delays, errors and repeated visits</a:t>
              </a:r>
            </a:p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375300" y="2789732"/>
            <a:ext cx="5864700" cy="3373642"/>
            <a:chOff x="0" y="0"/>
            <a:chExt cx="1544612" cy="88853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544612" cy="888531"/>
            </a:xfrm>
            <a:custGeom>
              <a:avLst/>
              <a:gdLst/>
              <a:ahLst/>
              <a:cxnLst/>
              <a:rect r="r" b="b" t="t" l="l"/>
              <a:pathLst>
                <a:path h="888531" w="1544612">
                  <a:moveTo>
                    <a:pt x="67324" y="0"/>
                  </a:moveTo>
                  <a:lnTo>
                    <a:pt x="1477288" y="0"/>
                  </a:lnTo>
                  <a:cubicBezTo>
                    <a:pt x="1495143" y="0"/>
                    <a:pt x="1512268" y="7093"/>
                    <a:pt x="1524893" y="19719"/>
                  </a:cubicBezTo>
                  <a:cubicBezTo>
                    <a:pt x="1537519" y="32345"/>
                    <a:pt x="1544612" y="49469"/>
                    <a:pt x="1544612" y="67324"/>
                  </a:cubicBezTo>
                  <a:lnTo>
                    <a:pt x="1544612" y="821207"/>
                  </a:lnTo>
                  <a:cubicBezTo>
                    <a:pt x="1544612" y="858389"/>
                    <a:pt x="1514470" y="888531"/>
                    <a:pt x="1477288" y="888531"/>
                  </a:cubicBezTo>
                  <a:lnTo>
                    <a:pt x="67324" y="888531"/>
                  </a:lnTo>
                  <a:cubicBezTo>
                    <a:pt x="30142" y="888531"/>
                    <a:pt x="0" y="858389"/>
                    <a:pt x="0" y="821207"/>
                  </a:cubicBezTo>
                  <a:lnTo>
                    <a:pt x="0" y="67324"/>
                  </a:lnTo>
                  <a:cubicBezTo>
                    <a:pt x="0" y="30142"/>
                    <a:pt x="30142" y="0"/>
                    <a:pt x="67324" y="0"/>
                  </a:cubicBez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544612" cy="9075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b="true" sz="1800" u="sng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OUR SOLUTION</a:t>
              </a:r>
            </a:p>
            <a:p>
              <a:pPr algn="ctr">
                <a:lnSpc>
                  <a:spcPts val="2160"/>
                </a:lnSpc>
              </a:pP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One personalized platform that matches beneficiaries with suitable loans, subsidies and scholarships.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Supports the journey from scheme selection → financial planning → document readiness → partner selection.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Connects beneficiaries with suitable SCAs / Banks / NBFC-MFIs for application.</a:t>
              </a:r>
            </a:p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4571800" y="6304709"/>
            <a:ext cx="7864601" cy="3086100"/>
            <a:chOff x="0" y="0"/>
            <a:chExt cx="2071335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71335" cy="812800"/>
            </a:xfrm>
            <a:custGeom>
              <a:avLst/>
              <a:gdLst/>
              <a:ahLst/>
              <a:cxnLst/>
              <a:rect r="r" b="b" t="t" l="l"/>
              <a:pathLst>
                <a:path h="812800" w="2071335">
                  <a:moveTo>
                    <a:pt x="50204" y="0"/>
                  </a:moveTo>
                  <a:lnTo>
                    <a:pt x="2021131" y="0"/>
                  </a:lnTo>
                  <a:cubicBezTo>
                    <a:pt x="2034446" y="0"/>
                    <a:pt x="2047216" y="5289"/>
                    <a:pt x="2056631" y="14705"/>
                  </a:cubicBezTo>
                  <a:cubicBezTo>
                    <a:pt x="2066046" y="24120"/>
                    <a:pt x="2071335" y="36889"/>
                    <a:pt x="2071335" y="50204"/>
                  </a:cubicBezTo>
                  <a:lnTo>
                    <a:pt x="2071335" y="762596"/>
                  </a:lnTo>
                  <a:cubicBezTo>
                    <a:pt x="2071335" y="775911"/>
                    <a:pt x="2066046" y="788680"/>
                    <a:pt x="2056631" y="798095"/>
                  </a:cubicBezTo>
                  <a:cubicBezTo>
                    <a:pt x="2047216" y="807511"/>
                    <a:pt x="2034446" y="812800"/>
                    <a:pt x="2021131" y="812800"/>
                  </a:cubicBezTo>
                  <a:lnTo>
                    <a:pt x="50204" y="812800"/>
                  </a:lnTo>
                  <a:cubicBezTo>
                    <a:pt x="36889" y="812800"/>
                    <a:pt x="24120" y="807511"/>
                    <a:pt x="14705" y="798095"/>
                  </a:cubicBezTo>
                  <a:cubicBezTo>
                    <a:pt x="5289" y="788680"/>
                    <a:pt x="0" y="775911"/>
                    <a:pt x="0" y="762596"/>
                  </a:cubicBezTo>
                  <a:lnTo>
                    <a:pt x="0" y="50204"/>
                  </a:lnTo>
                  <a:cubicBezTo>
                    <a:pt x="0" y="36889"/>
                    <a:pt x="5289" y="24120"/>
                    <a:pt x="14705" y="14705"/>
                  </a:cubicBezTo>
                  <a:cubicBezTo>
                    <a:pt x="24120" y="5289"/>
                    <a:pt x="36889" y="0"/>
                    <a:pt x="50204" y="0"/>
                  </a:cubicBez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2071335" cy="8318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b="true" sz="1800" u="sng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WHY OUR SOLUTION IS BETTER</a:t>
              </a:r>
            </a:p>
            <a:p>
              <a:pPr algn="ctr">
                <a:lnSpc>
                  <a:spcPts val="2160"/>
                </a:lnSpc>
              </a:pP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Beyond discovery: recommends the most suitable path, not just available schemes.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Decision before application: comparison, affordability and What-If analysis help users evaluate options first.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End-to-end guidance: Need → Scheme → Plan → Documents → Partner → Application.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Bottom USP.From finding a scheme to finding the right financial path.</a:t>
              </a:r>
            </a:p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2308249" y="1604700"/>
            <a:ext cx="12391704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89"/>
              </a:lnSpc>
              <a:spcBef>
                <a:spcPct val="0"/>
              </a:spcBef>
            </a:pPr>
            <a:r>
              <a:rPr lang="en-US" b="true" sz="3657">
                <a:solidFill>
                  <a:srgbClr val="1F497D"/>
                </a:solidFill>
                <a:latin typeface="Arimo Bold"/>
                <a:ea typeface="Arimo Bold"/>
                <a:cs typeface="Arimo Bold"/>
                <a:sym typeface="Arimo Bold"/>
              </a:rPr>
              <a:t>One Platform. One Personalized Financial Path.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8532" y="157425"/>
            <a:ext cx="2055316" cy="1742551"/>
          </a:xfrm>
          <a:custGeom>
            <a:avLst/>
            <a:gdLst/>
            <a:ahLst/>
            <a:cxnLst/>
            <a:rect r="r" b="b" t="t" l="l"/>
            <a:pathLst>
              <a:path h="1742551" w="2055316">
                <a:moveTo>
                  <a:pt x="0" y="0"/>
                </a:moveTo>
                <a:lnTo>
                  <a:pt x="2055316" y="0"/>
                </a:lnTo>
                <a:lnTo>
                  <a:pt x="2055316" y="1742550"/>
                </a:lnTo>
                <a:lnTo>
                  <a:pt x="0" y="17425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1"/>
              </a:stretch>
            </a:blipFill>
          </p:spPr>
        </p:sp>
      </p:grpSp>
      <p:sp>
        <p:nvSpPr>
          <p:cNvPr name="Freeform 14" id="14"/>
          <p:cNvSpPr/>
          <p:nvPr/>
        </p:nvSpPr>
        <p:spPr>
          <a:xfrm flipH="false" flipV="false" rot="0">
            <a:off x="-90521" y="1552343"/>
            <a:ext cx="18469042" cy="8357229"/>
          </a:xfrm>
          <a:custGeom>
            <a:avLst/>
            <a:gdLst/>
            <a:ahLst/>
            <a:cxnLst/>
            <a:rect r="r" b="b" t="t" l="l"/>
            <a:pathLst>
              <a:path h="8357229" w="18469042">
                <a:moveTo>
                  <a:pt x="0" y="0"/>
                </a:moveTo>
                <a:lnTo>
                  <a:pt x="18469042" y="0"/>
                </a:lnTo>
                <a:lnTo>
                  <a:pt x="18469042" y="8357229"/>
                </a:lnTo>
                <a:lnTo>
                  <a:pt x="0" y="83572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519" r="0" b="-1519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68945" y="67853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Freeform 15" id="15"/>
          <p:cNvSpPr/>
          <p:nvPr/>
        </p:nvSpPr>
        <p:spPr>
          <a:xfrm flipH="false" flipV="false" rot="0">
            <a:off x="204059" y="157425"/>
            <a:ext cx="2055316" cy="1742551"/>
          </a:xfrm>
          <a:custGeom>
            <a:avLst/>
            <a:gdLst/>
            <a:ahLst/>
            <a:cxnLst/>
            <a:rect r="r" b="b" t="t" l="l"/>
            <a:pathLst>
              <a:path h="1742551" w="2055316">
                <a:moveTo>
                  <a:pt x="0" y="0"/>
                </a:moveTo>
                <a:lnTo>
                  <a:pt x="2055316" y="0"/>
                </a:lnTo>
                <a:lnTo>
                  <a:pt x="2055316" y="1742550"/>
                </a:lnTo>
                <a:lnTo>
                  <a:pt x="0" y="17425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AutoShape 16" id="16"/>
          <p:cNvSpPr/>
          <p:nvPr/>
        </p:nvSpPr>
        <p:spPr>
          <a:xfrm flipH="true">
            <a:off x="8798545" y="1782353"/>
            <a:ext cx="0" cy="713725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0">
            <a:off x="9375300" y="1782353"/>
            <a:ext cx="8172665" cy="1279918"/>
            <a:chOff x="0" y="0"/>
            <a:chExt cx="2152472" cy="33709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52472" cy="337098"/>
            </a:xfrm>
            <a:custGeom>
              <a:avLst/>
              <a:gdLst/>
              <a:ahLst/>
              <a:cxnLst/>
              <a:rect r="r" b="b" t="t" l="l"/>
              <a:pathLst>
                <a:path h="337098" w="2152472">
                  <a:moveTo>
                    <a:pt x="48312" y="0"/>
                  </a:moveTo>
                  <a:lnTo>
                    <a:pt x="2104160" y="0"/>
                  </a:lnTo>
                  <a:cubicBezTo>
                    <a:pt x="2116973" y="0"/>
                    <a:pt x="2129261" y="5090"/>
                    <a:pt x="2138321" y="14150"/>
                  </a:cubicBezTo>
                  <a:cubicBezTo>
                    <a:pt x="2147382" y="23211"/>
                    <a:pt x="2152472" y="35499"/>
                    <a:pt x="2152472" y="48312"/>
                  </a:cubicBezTo>
                  <a:lnTo>
                    <a:pt x="2152472" y="288786"/>
                  </a:lnTo>
                  <a:cubicBezTo>
                    <a:pt x="2152472" y="315468"/>
                    <a:pt x="2130841" y="337098"/>
                    <a:pt x="2104160" y="337098"/>
                  </a:cubicBezTo>
                  <a:lnTo>
                    <a:pt x="48312" y="337098"/>
                  </a:lnTo>
                  <a:cubicBezTo>
                    <a:pt x="35499" y="337098"/>
                    <a:pt x="23211" y="332008"/>
                    <a:pt x="14150" y="322947"/>
                  </a:cubicBezTo>
                  <a:cubicBezTo>
                    <a:pt x="5090" y="313887"/>
                    <a:pt x="0" y="301599"/>
                    <a:pt x="0" y="288786"/>
                  </a:cubicBezTo>
                  <a:lnTo>
                    <a:pt x="0" y="48312"/>
                  </a:lnTo>
                  <a:cubicBezTo>
                    <a:pt x="0" y="21630"/>
                    <a:pt x="21630" y="0"/>
                    <a:pt x="48312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2152472" cy="3561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375300" y="3214671"/>
            <a:ext cx="8172665" cy="1495474"/>
            <a:chOff x="0" y="0"/>
            <a:chExt cx="2152472" cy="39387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52472" cy="393870"/>
            </a:xfrm>
            <a:custGeom>
              <a:avLst/>
              <a:gdLst/>
              <a:ahLst/>
              <a:cxnLst/>
              <a:rect r="r" b="b" t="t" l="l"/>
              <a:pathLst>
                <a:path h="393870" w="2152472">
                  <a:moveTo>
                    <a:pt x="48312" y="0"/>
                  </a:moveTo>
                  <a:lnTo>
                    <a:pt x="2104160" y="0"/>
                  </a:lnTo>
                  <a:cubicBezTo>
                    <a:pt x="2116973" y="0"/>
                    <a:pt x="2129261" y="5090"/>
                    <a:pt x="2138321" y="14150"/>
                  </a:cubicBezTo>
                  <a:cubicBezTo>
                    <a:pt x="2147382" y="23211"/>
                    <a:pt x="2152472" y="35499"/>
                    <a:pt x="2152472" y="48312"/>
                  </a:cubicBezTo>
                  <a:lnTo>
                    <a:pt x="2152472" y="345558"/>
                  </a:lnTo>
                  <a:cubicBezTo>
                    <a:pt x="2152472" y="372240"/>
                    <a:pt x="2130841" y="393870"/>
                    <a:pt x="2104160" y="393870"/>
                  </a:cubicBezTo>
                  <a:lnTo>
                    <a:pt x="48312" y="393870"/>
                  </a:lnTo>
                  <a:cubicBezTo>
                    <a:pt x="21630" y="393870"/>
                    <a:pt x="0" y="372240"/>
                    <a:pt x="0" y="345558"/>
                  </a:cubicBezTo>
                  <a:lnTo>
                    <a:pt x="0" y="48312"/>
                  </a:lnTo>
                  <a:cubicBezTo>
                    <a:pt x="0" y="21630"/>
                    <a:pt x="21630" y="0"/>
                    <a:pt x="48312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2152472" cy="4129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375300" y="4862529"/>
            <a:ext cx="8172665" cy="2391818"/>
            <a:chOff x="0" y="0"/>
            <a:chExt cx="2152472" cy="62994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52472" cy="629944"/>
            </a:xfrm>
            <a:custGeom>
              <a:avLst/>
              <a:gdLst/>
              <a:ahLst/>
              <a:cxnLst/>
              <a:rect r="r" b="b" t="t" l="l"/>
              <a:pathLst>
                <a:path h="629944" w="2152472">
                  <a:moveTo>
                    <a:pt x="48312" y="0"/>
                  </a:moveTo>
                  <a:lnTo>
                    <a:pt x="2104160" y="0"/>
                  </a:lnTo>
                  <a:cubicBezTo>
                    <a:pt x="2116973" y="0"/>
                    <a:pt x="2129261" y="5090"/>
                    <a:pt x="2138321" y="14150"/>
                  </a:cubicBezTo>
                  <a:cubicBezTo>
                    <a:pt x="2147382" y="23211"/>
                    <a:pt x="2152472" y="35499"/>
                    <a:pt x="2152472" y="48312"/>
                  </a:cubicBezTo>
                  <a:lnTo>
                    <a:pt x="2152472" y="581632"/>
                  </a:lnTo>
                  <a:cubicBezTo>
                    <a:pt x="2152472" y="608314"/>
                    <a:pt x="2130841" y="629944"/>
                    <a:pt x="2104160" y="629944"/>
                  </a:cubicBezTo>
                  <a:lnTo>
                    <a:pt x="48312" y="629944"/>
                  </a:lnTo>
                  <a:cubicBezTo>
                    <a:pt x="21630" y="629944"/>
                    <a:pt x="0" y="608314"/>
                    <a:pt x="0" y="581632"/>
                  </a:cubicBezTo>
                  <a:lnTo>
                    <a:pt x="0" y="48312"/>
                  </a:lnTo>
                  <a:cubicBezTo>
                    <a:pt x="0" y="21630"/>
                    <a:pt x="21630" y="0"/>
                    <a:pt x="48312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19050"/>
              <a:ext cx="2152472" cy="6489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9831761" y="5186395"/>
            <a:ext cx="5089579" cy="1833310"/>
          </a:xfrm>
          <a:custGeom>
            <a:avLst/>
            <a:gdLst/>
            <a:ahLst/>
            <a:cxnLst/>
            <a:rect r="r" b="b" t="t" l="l"/>
            <a:pathLst>
              <a:path h="1833310" w="5089579">
                <a:moveTo>
                  <a:pt x="0" y="0"/>
                </a:moveTo>
                <a:lnTo>
                  <a:pt x="5089579" y="0"/>
                </a:lnTo>
                <a:lnTo>
                  <a:pt x="5089579" y="1833310"/>
                </a:lnTo>
                <a:lnTo>
                  <a:pt x="0" y="18333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692" t="-1415" r="-12656" b="-11758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832991" y="1880925"/>
            <a:ext cx="5276850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  <a:spcBef>
                <a:spcPct val="0"/>
              </a:spcBef>
            </a:pPr>
            <a:r>
              <a:rPr lang="en-US" b="true" sz="2700" u="sng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Analysis of the feasibility of the idea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32991" y="4014771"/>
            <a:ext cx="4261045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40"/>
              </a:lnSpc>
              <a:spcBef>
                <a:spcPct val="0"/>
              </a:spcBef>
            </a:pPr>
            <a:r>
              <a:rPr lang="en-US" b="true" sz="2700" u="sng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Potential challenges and risk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85639" y="2452671"/>
            <a:ext cx="7247963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2521" indent="-236261" lvl="1">
              <a:lnSpc>
                <a:spcPts val="2626"/>
              </a:lnSpc>
              <a:spcBef>
                <a:spcPct val="0"/>
              </a:spcBef>
              <a:buFont typeface="Arial"/>
              <a:buChar char="•"/>
            </a:pPr>
            <a:r>
              <a:rPr lang="en-US" sz="2188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Income (less than 5L) and project cost decide the scheme- simple rule-based logic,not heavy AI.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85639" y="3233721"/>
            <a:ext cx="6974265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2521" indent="-236261" lvl="1">
              <a:lnSpc>
                <a:spcPts val="2626"/>
              </a:lnSpc>
              <a:spcBef>
                <a:spcPct val="0"/>
              </a:spcBef>
              <a:buFont typeface="Arial"/>
              <a:buChar char="•"/>
            </a:pPr>
            <a:r>
              <a:rPr lang="en-US" sz="2188" strike="noStrike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partner locator needs only a Maps API layered on the existing 100+ channel Partner directory.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85639" y="4586304"/>
            <a:ext cx="6974265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2521" indent="-236261" lvl="1">
              <a:lnSpc>
                <a:spcPts val="2626"/>
              </a:lnSpc>
              <a:spcBef>
                <a:spcPct val="0"/>
              </a:spcBef>
              <a:buFont typeface="Arial"/>
              <a:buChar char="•"/>
            </a:pPr>
            <a:r>
              <a:rPr lang="en-US" sz="2188" strike="noStrike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Channel Partners dont publish live NPA or overdue status ,so a partner’s standing on file can go stale.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28700" y="5463647"/>
            <a:ext cx="7031204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2521" indent="-236261" lvl="1">
              <a:lnSpc>
                <a:spcPts val="2626"/>
              </a:lnSpc>
              <a:spcBef>
                <a:spcPct val="0"/>
              </a:spcBef>
              <a:buFont typeface="Arial"/>
              <a:buChar char="•"/>
            </a:pPr>
            <a:r>
              <a:rPr lang="en-US" sz="2188" strike="noStrike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Micro,Term and Education schemes overlap in purpose-a wrong cost estimate misroutes applicants.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32991" y="6162452"/>
            <a:ext cx="6215175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240"/>
              </a:lnSpc>
              <a:spcBef>
                <a:spcPct val="0"/>
              </a:spcBef>
            </a:pPr>
            <a:r>
              <a:rPr lang="en-US" b="true" sz="2700" u="sng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Strategies for overcoming these challenges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28700" y="6901922"/>
            <a:ext cx="7031204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2521" indent="-236261" lvl="1">
              <a:lnSpc>
                <a:spcPts val="2626"/>
              </a:lnSpc>
              <a:spcBef>
                <a:spcPct val="0"/>
              </a:spcBef>
              <a:buFont typeface="Arial"/>
              <a:buChar char="•"/>
            </a:pPr>
            <a:r>
              <a:rPr lang="en-US" sz="2188" strike="noStrike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Sign monthly eligibility and NPA data-sharing agreements directly with SCAs ,PSBs,RRBs,and NBFC-MFIs.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28700" y="7768836"/>
            <a:ext cx="7304903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2521" indent="-236261" lvl="1">
              <a:lnSpc>
                <a:spcPts val="2626"/>
              </a:lnSpc>
              <a:spcBef>
                <a:spcPct val="0"/>
              </a:spcBef>
              <a:buFont typeface="Arial"/>
              <a:buChar char="•"/>
            </a:pPr>
            <a:r>
              <a:rPr lang="en-US" sz="2188" strike="noStrike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one-screen confirmation of why a scheme fits - income,cost,purpose-catches errors early.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1778301" y="1880925"/>
            <a:ext cx="3143039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799" u="sng">
                <a:solidFill>
                  <a:srgbClr val="000000">
                    <a:alpha val="67843"/>
                  </a:srgbClr>
                </a:solidFill>
                <a:latin typeface="Arimo Bold"/>
                <a:ea typeface="Arimo Bold"/>
                <a:cs typeface="Arimo Bold"/>
                <a:sym typeface="Arimo Bold"/>
              </a:rPr>
              <a:t>₹ 30 lakh crore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375300" y="2452671"/>
            <a:ext cx="8172665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Addressable MSME credit gap in India -24% of total credit demant unmet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1778301" y="3319446"/>
            <a:ext cx="3143039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799" strike="noStrike" u="sng">
                <a:solidFill>
                  <a:srgbClr val="000000">
                    <a:alpha val="67843"/>
                  </a:srgbClr>
                </a:solidFill>
                <a:latin typeface="Arimo Bold"/>
                <a:ea typeface="Arimo Bold"/>
                <a:cs typeface="Arimo Bold"/>
                <a:sym typeface="Arimo Bold"/>
              </a:rPr>
              <a:t>35% vs 20%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375300" y="3871896"/>
            <a:ext cx="8172665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Credit gap for women-led MSMEs vs male-led MSMEs - the widest demographic gap on record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5240000" y="5262579"/>
            <a:ext cx="2133600" cy="1525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5"/>
              </a:lnSpc>
              <a:spcBef>
                <a:spcPct val="0"/>
              </a:spcBef>
            </a:pPr>
            <a:r>
              <a:rPr lang="en-US" b="true" sz="2045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India’s MSME credit penetration ,vs China and the US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9375300" y="7431889"/>
            <a:ext cx="8172665" cy="1352583"/>
            <a:chOff x="0" y="0"/>
            <a:chExt cx="2152472" cy="356236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152472" cy="356236"/>
            </a:xfrm>
            <a:custGeom>
              <a:avLst/>
              <a:gdLst/>
              <a:ahLst/>
              <a:cxnLst/>
              <a:rect r="r" b="b" t="t" l="l"/>
              <a:pathLst>
                <a:path h="356236" w="2152472">
                  <a:moveTo>
                    <a:pt x="48312" y="0"/>
                  </a:moveTo>
                  <a:lnTo>
                    <a:pt x="2104160" y="0"/>
                  </a:lnTo>
                  <a:cubicBezTo>
                    <a:pt x="2116973" y="0"/>
                    <a:pt x="2129261" y="5090"/>
                    <a:pt x="2138321" y="14150"/>
                  </a:cubicBezTo>
                  <a:cubicBezTo>
                    <a:pt x="2147382" y="23211"/>
                    <a:pt x="2152472" y="35499"/>
                    <a:pt x="2152472" y="48312"/>
                  </a:cubicBezTo>
                  <a:lnTo>
                    <a:pt x="2152472" y="307924"/>
                  </a:lnTo>
                  <a:cubicBezTo>
                    <a:pt x="2152472" y="334606"/>
                    <a:pt x="2130841" y="356236"/>
                    <a:pt x="2104160" y="356236"/>
                  </a:cubicBezTo>
                  <a:lnTo>
                    <a:pt x="48312" y="356236"/>
                  </a:lnTo>
                  <a:cubicBezTo>
                    <a:pt x="35499" y="356236"/>
                    <a:pt x="23211" y="351146"/>
                    <a:pt x="14150" y="342086"/>
                  </a:cubicBezTo>
                  <a:cubicBezTo>
                    <a:pt x="5090" y="333025"/>
                    <a:pt x="0" y="320737"/>
                    <a:pt x="0" y="307924"/>
                  </a:cubicBezTo>
                  <a:lnTo>
                    <a:pt x="0" y="48312"/>
                  </a:lnTo>
                  <a:cubicBezTo>
                    <a:pt x="0" y="21630"/>
                    <a:pt x="21630" y="0"/>
                    <a:pt x="48312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2152472" cy="3752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11778301" y="7460358"/>
            <a:ext cx="3143039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799" strike="noStrike" u="sng">
                <a:solidFill>
                  <a:srgbClr val="000000">
                    <a:alpha val="67843"/>
                  </a:srgbClr>
                </a:solidFill>
                <a:latin typeface="Arimo Bold"/>
                <a:ea typeface="Arimo Bold"/>
                <a:cs typeface="Arimo Bold"/>
                <a:sym typeface="Arimo Bold"/>
              </a:rPr>
              <a:t>35%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263488" y="7965183"/>
            <a:ext cx="8172665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  <a:spcBef>
                <a:spcPct val="0"/>
              </a:spcBef>
            </a:pPr>
            <a:r>
              <a:rPr lang="en-US" b="true" sz="180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Micro-enterprices still unregistered/informal,citing low awarness of schemes as a key reason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@SIH Idea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Freeform 15" id="15"/>
          <p:cNvSpPr/>
          <p:nvPr/>
        </p:nvSpPr>
        <p:spPr>
          <a:xfrm flipH="false" flipV="false" rot="0">
            <a:off x="204059" y="157425"/>
            <a:ext cx="2055316" cy="1742551"/>
          </a:xfrm>
          <a:custGeom>
            <a:avLst/>
            <a:gdLst/>
            <a:ahLst/>
            <a:cxnLst/>
            <a:rect r="r" b="b" t="t" l="l"/>
            <a:pathLst>
              <a:path h="1742551" w="2055316">
                <a:moveTo>
                  <a:pt x="0" y="0"/>
                </a:moveTo>
                <a:lnTo>
                  <a:pt x="2055316" y="0"/>
                </a:lnTo>
                <a:lnTo>
                  <a:pt x="2055316" y="1742550"/>
                </a:lnTo>
                <a:lnTo>
                  <a:pt x="0" y="17425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204059" y="1792640"/>
            <a:ext cx="8569802" cy="3095399"/>
            <a:chOff x="0" y="0"/>
            <a:chExt cx="2257067" cy="81524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57067" cy="815249"/>
            </a:xfrm>
            <a:custGeom>
              <a:avLst/>
              <a:gdLst/>
              <a:ahLst/>
              <a:cxnLst/>
              <a:rect r="r" b="b" t="t" l="l"/>
              <a:pathLst>
                <a:path h="815249" w="2257067">
                  <a:moveTo>
                    <a:pt x="34329" y="0"/>
                  </a:moveTo>
                  <a:lnTo>
                    <a:pt x="2222738" y="0"/>
                  </a:lnTo>
                  <a:cubicBezTo>
                    <a:pt x="2231843" y="0"/>
                    <a:pt x="2240575" y="3617"/>
                    <a:pt x="2247012" y="10055"/>
                  </a:cubicBezTo>
                  <a:cubicBezTo>
                    <a:pt x="2253450" y="16493"/>
                    <a:pt x="2257067" y="25224"/>
                    <a:pt x="2257067" y="34329"/>
                  </a:cubicBezTo>
                  <a:lnTo>
                    <a:pt x="2257067" y="780920"/>
                  </a:lnTo>
                  <a:cubicBezTo>
                    <a:pt x="2257067" y="799879"/>
                    <a:pt x="2241698" y="815249"/>
                    <a:pt x="2222738" y="815249"/>
                  </a:cubicBezTo>
                  <a:lnTo>
                    <a:pt x="34329" y="815249"/>
                  </a:lnTo>
                  <a:cubicBezTo>
                    <a:pt x="15370" y="815249"/>
                    <a:pt x="0" y="799879"/>
                    <a:pt x="0" y="780920"/>
                  </a:cubicBezTo>
                  <a:lnTo>
                    <a:pt x="0" y="34329"/>
                  </a:lnTo>
                  <a:cubicBezTo>
                    <a:pt x="0" y="15370"/>
                    <a:pt x="15370" y="0"/>
                    <a:pt x="34329" y="0"/>
                  </a:cubicBezTo>
                  <a:close/>
                </a:path>
              </a:pathLst>
            </a:custGeom>
            <a:solidFill>
              <a:srgbClr val="1F497D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2257067" cy="8342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0" y="4888301"/>
            <a:ext cx="18288000" cy="2256312"/>
          </a:xfrm>
          <a:custGeom>
            <a:avLst/>
            <a:gdLst/>
            <a:ahLst/>
            <a:cxnLst/>
            <a:rect r="r" b="b" t="t" l="l"/>
            <a:pathLst>
              <a:path h="2256312" w="18288000">
                <a:moveTo>
                  <a:pt x="0" y="0"/>
                </a:moveTo>
                <a:lnTo>
                  <a:pt x="18288000" y="0"/>
                </a:lnTo>
                <a:lnTo>
                  <a:pt x="18288000" y="2256312"/>
                </a:lnTo>
                <a:lnTo>
                  <a:pt x="0" y="22563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9144000" y="1792640"/>
            <a:ext cx="8900903" cy="3108442"/>
            <a:chOff x="0" y="0"/>
            <a:chExt cx="2344271" cy="81868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344271" cy="818684"/>
            </a:xfrm>
            <a:custGeom>
              <a:avLst/>
              <a:gdLst/>
              <a:ahLst/>
              <a:cxnLst/>
              <a:rect r="r" b="b" t="t" l="l"/>
              <a:pathLst>
                <a:path h="818684" w="2344271">
                  <a:moveTo>
                    <a:pt x="25224" y="0"/>
                  </a:moveTo>
                  <a:lnTo>
                    <a:pt x="2319047" y="0"/>
                  </a:lnTo>
                  <a:cubicBezTo>
                    <a:pt x="2332978" y="0"/>
                    <a:pt x="2344271" y="11293"/>
                    <a:pt x="2344271" y="25224"/>
                  </a:cubicBezTo>
                  <a:lnTo>
                    <a:pt x="2344271" y="793460"/>
                  </a:lnTo>
                  <a:cubicBezTo>
                    <a:pt x="2344271" y="807391"/>
                    <a:pt x="2332978" y="818684"/>
                    <a:pt x="2319047" y="818684"/>
                  </a:cubicBezTo>
                  <a:lnTo>
                    <a:pt x="25224" y="818684"/>
                  </a:lnTo>
                  <a:cubicBezTo>
                    <a:pt x="11293" y="818684"/>
                    <a:pt x="0" y="807391"/>
                    <a:pt x="0" y="793460"/>
                  </a:cubicBezTo>
                  <a:lnTo>
                    <a:pt x="0" y="25224"/>
                  </a:lnTo>
                  <a:cubicBezTo>
                    <a:pt x="0" y="11293"/>
                    <a:pt x="11293" y="0"/>
                    <a:pt x="25224" y="0"/>
                  </a:cubicBezTo>
                  <a:close/>
                </a:path>
              </a:pathLst>
            </a:custGeom>
            <a:solidFill>
              <a:srgbClr val="1F497D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2344271" cy="8377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1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0" y="2078426"/>
            <a:ext cx="4538166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20"/>
              </a:lnSpc>
              <a:spcBef>
                <a:spcPct val="0"/>
              </a:spcBef>
            </a:pPr>
            <a:r>
              <a:rPr lang="en-US" b="true" sz="31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WITH OUR SYSTEM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04059" y="2849951"/>
            <a:ext cx="9178570" cy="1733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19151" indent="-309576" lvl="1">
              <a:lnSpc>
                <a:spcPts val="3441"/>
              </a:lnSpc>
              <a:buFont typeface="Arial"/>
              <a:buChar char="•"/>
            </a:pPr>
            <a:r>
              <a:rPr lang="en-US" sz="2867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  <a:t>Enter profile once, get matched everywhere</a:t>
            </a:r>
          </a:p>
          <a:p>
            <a:pPr algn="l" marL="619151" indent="-309576" lvl="1">
              <a:lnSpc>
                <a:spcPts val="3441"/>
              </a:lnSpc>
              <a:buFont typeface="Arial"/>
              <a:buChar char="•"/>
            </a:pPr>
            <a:r>
              <a:rPr lang="en-US" sz="2867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  <a:t>Automatic, plain-language eligibility analysis</a:t>
            </a:r>
          </a:p>
          <a:p>
            <a:pPr algn="l" marL="619151" indent="-309576" lvl="1">
              <a:lnSpc>
                <a:spcPts val="3441"/>
              </a:lnSpc>
              <a:buFont typeface="Arial"/>
              <a:buChar char="•"/>
            </a:pPr>
            <a:r>
              <a:rPr lang="en-US" sz="2867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  <a:t>Personalized, ranked scheme recommendations</a:t>
            </a:r>
          </a:p>
          <a:p>
            <a:pPr algn="l" marL="619151" indent="-309576" lvl="1">
              <a:lnSpc>
                <a:spcPts val="3441"/>
              </a:lnSpc>
              <a:buFont typeface="Arial"/>
              <a:buChar char="•"/>
            </a:pPr>
            <a:r>
              <a:rPr lang="en-US" sz="2867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  <a:t>Discover potentially complementary schemes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0" y="7268438"/>
            <a:ext cx="5356706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78"/>
              </a:lnSpc>
              <a:spcBef>
                <a:spcPct val="0"/>
              </a:spcBef>
            </a:pPr>
            <a:r>
              <a:rPr lang="en-US" b="true" sz="3315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  EXPECTED IMPACT             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50742" y="7953723"/>
            <a:ext cx="8054854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19" indent="-302260" lvl="1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Higher utilization of government schemes</a:t>
            </a:r>
          </a:p>
          <a:p>
            <a:pPr algn="l" marL="604519" indent="-302260" lvl="1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Boost in entrepreneurship &amp; MSME growth </a:t>
            </a:r>
          </a:p>
          <a:p>
            <a:pPr algn="l" marL="604519" indent="-302260" lvl="1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Employment generation 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773861" y="7953723"/>
            <a:ext cx="8665078" cy="1276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19" indent="-302260" lvl="1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Inclusive and sustainable economic growth</a:t>
            </a:r>
          </a:p>
          <a:p>
            <a:pPr algn="l" marL="604519" indent="-302260" lvl="1">
              <a:lnSpc>
                <a:spcPts val="335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scalable support model across states, languages &amp; sectors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375300" y="1944963"/>
            <a:ext cx="8029774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  <a:spcBef>
                <a:spcPct val="0"/>
              </a:spcBef>
            </a:pPr>
            <a:r>
              <a:rPr lang="en-US" b="true" sz="31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GOVERNANCE &amp; POLICY INTELLIGENCE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805025" y="2680176"/>
            <a:ext cx="8724133" cy="2476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87614" indent="-293807" lvl="1">
              <a:lnSpc>
                <a:spcPts val="3266"/>
              </a:lnSpc>
              <a:buAutoNum type="arabicPeriod" startAt="1"/>
            </a:pPr>
            <a:r>
              <a:rPr lang="en-US" sz="2721">
                <a:solidFill>
                  <a:srgbClr val="DCE6F2"/>
                </a:solidFill>
                <a:latin typeface="Arimo"/>
                <a:ea typeface="Arimo"/>
                <a:cs typeface="Arimo"/>
                <a:sym typeface="Arimo"/>
              </a:rPr>
              <a:t>Strategic government value</a:t>
            </a:r>
          </a:p>
          <a:p>
            <a:pPr algn="l" marL="587614" indent="-293807" lvl="1">
              <a:lnSpc>
                <a:spcPts val="3266"/>
              </a:lnSpc>
              <a:buAutoNum type="arabicPeriod" startAt="1"/>
            </a:pPr>
            <a:r>
              <a:rPr lang="en-US" sz="2721">
                <a:solidFill>
                  <a:srgbClr val="DCE6F2"/>
                </a:solidFill>
                <a:latin typeface="Arimo"/>
                <a:ea typeface="Arimo"/>
                <a:cs typeface="Arimo"/>
                <a:sym typeface="Arimo"/>
              </a:rPr>
              <a:t>Policy &amp; governance insights</a:t>
            </a:r>
          </a:p>
          <a:p>
            <a:pPr algn="l" marL="587614" indent="-293807" lvl="1">
              <a:lnSpc>
                <a:spcPts val="3266"/>
              </a:lnSpc>
              <a:buAutoNum type="arabicPeriod" startAt="1"/>
            </a:pPr>
            <a:r>
              <a:rPr lang="en-US" sz="2721">
                <a:solidFill>
                  <a:srgbClr val="DCE6F2"/>
                </a:solidFill>
                <a:latin typeface="Arimo"/>
                <a:ea typeface="Arimo"/>
                <a:cs typeface="Arimo"/>
                <a:sym typeface="Arimo"/>
              </a:rPr>
              <a:t>Government decision support</a:t>
            </a:r>
          </a:p>
          <a:p>
            <a:pPr algn="l" marL="587614" indent="-293807" lvl="1">
              <a:lnSpc>
                <a:spcPts val="3266"/>
              </a:lnSpc>
              <a:buAutoNum type="arabicPeriod" startAt="1"/>
            </a:pPr>
            <a:r>
              <a:rPr lang="en-US" sz="2721">
                <a:solidFill>
                  <a:srgbClr val="DCE6F2"/>
                </a:solidFill>
                <a:latin typeface="Arimo"/>
                <a:ea typeface="Arimo"/>
                <a:cs typeface="Arimo"/>
                <a:sym typeface="Arimo"/>
              </a:rPr>
              <a:t>System-level governance benefits</a:t>
            </a:r>
          </a:p>
          <a:p>
            <a:pPr algn="l" marL="587614" indent="-293807" lvl="1">
              <a:lnSpc>
                <a:spcPts val="3266"/>
              </a:lnSpc>
              <a:buAutoNum type="arabicPeriod" startAt="1"/>
            </a:pPr>
            <a:r>
              <a:rPr lang="en-US" sz="2721">
                <a:solidFill>
                  <a:srgbClr val="DCE6F2"/>
                </a:solidFill>
                <a:latin typeface="Arimo"/>
                <a:ea typeface="Arimo"/>
                <a:cs typeface="Arimo"/>
                <a:sym typeface="Arimo"/>
              </a:rPr>
              <a:t>Policy intelligence &amp; oversight</a:t>
            </a:r>
          </a:p>
          <a:p>
            <a:pPr algn="l">
              <a:lnSpc>
                <a:spcPts val="3266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Freeform 15" id="15"/>
          <p:cNvSpPr/>
          <p:nvPr/>
        </p:nvSpPr>
        <p:spPr>
          <a:xfrm flipH="false" flipV="false" rot="0">
            <a:off x="204059" y="157425"/>
            <a:ext cx="2055316" cy="1742551"/>
          </a:xfrm>
          <a:custGeom>
            <a:avLst/>
            <a:gdLst/>
            <a:ahLst/>
            <a:cxnLst/>
            <a:rect r="r" b="b" t="t" l="l"/>
            <a:pathLst>
              <a:path h="1742551" w="2055316">
                <a:moveTo>
                  <a:pt x="0" y="0"/>
                </a:moveTo>
                <a:lnTo>
                  <a:pt x="2055316" y="0"/>
                </a:lnTo>
                <a:lnTo>
                  <a:pt x="2055316" y="1742550"/>
                </a:lnTo>
                <a:lnTo>
                  <a:pt x="0" y="17425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204059" y="1785759"/>
            <a:ext cx="7863837" cy="7472541"/>
            <a:chOff x="0" y="0"/>
            <a:chExt cx="957107" cy="9093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57107" cy="909320"/>
            </a:xfrm>
            <a:custGeom>
              <a:avLst/>
              <a:gdLst/>
              <a:ahLst/>
              <a:cxnLst/>
              <a:rect r="r" b="b" t="t" l="l"/>
              <a:pathLst>
                <a:path h="909320" w="957107">
                  <a:moveTo>
                    <a:pt x="957107" y="39380"/>
                  </a:moveTo>
                  <a:lnTo>
                    <a:pt x="957107" y="869940"/>
                  </a:lnTo>
                  <a:cubicBezTo>
                    <a:pt x="957107" y="880384"/>
                    <a:pt x="952958" y="890401"/>
                    <a:pt x="945572" y="897786"/>
                  </a:cubicBezTo>
                  <a:cubicBezTo>
                    <a:pt x="938187" y="905171"/>
                    <a:pt x="928171" y="909320"/>
                    <a:pt x="917727" y="909320"/>
                  </a:cubicBezTo>
                  <a:lnTo>
                    <a:pt x="39380" y="909320"/>
                  </a:lnTo>
                  <a:cubicBezTo>
                    <a:pt x="28936" y="909320"/>
                    <a:pt x="18919" y="905171"/>
                    <a:pt x="11534" y="897786"/>
                  </a:cubicBezTo>
                  <a:cubicBezTo>
                    <a:pt x="4149" y="890401"/>
                    <a:pt x="0" y="880384"/>
                    <a:pt x="0" y="869940"/>
                  </a:cubicBezTo>
                  <a:lnTo>
                    <a:pt x="0" y="39380"/>
                  </a:lnTo>
                  <a:cubicBezTo>
                    <a:pt x="0" y="28936"/>
                    <a:pt x="4149" y="18919"/>
                    <a:pt x="11534" y="11534"/>
                  </a:cubicBezTo>
                  <a:cubicBezTo>
                    <a:pt x="18919" y="4149"/>
                    <a:pt x="28936" y="0"/>
                    <a:pt x="39380" y="0"/>
                  </a:cubicBezTo>
                  <a:lnTo>
                    <a:pt x="917727" y="0"/>
                  </a:lnTo>
                  <a:cubicBezTo>
                    <a:pt x="939476" y="0"/>
                    <a:pt x="957107" y="17631"/>
                    <a:pt x="957107" y="3938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957107" cy="9283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251291" y="1785759"/>
            <a:ext cx="9793612" cy="7599058"/>
            <a:chOff x="0" y="0"/>
            <a:chExt cx="2579387" cy="200139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579388" cy="2001398"/>
            </a:xfrm>
            <a:custGeom>
              <a:avLst/>
              <a:gdLst/>
              <a:ahLst/>
              <a:cxnLst/>
              <a:rect r="r" b="b" t="t" l="l"/>
              <a:pathLst>
                <a:path h="2001398" w="2579388">
                  <a:moveTo>
                    <a:pt x="15810" y="0"/>
                  </a:moveTo>
                  <a:lnTo>
                    <a:pt x="2563577" y="0"/>
                  </a:lnTo>
                  <a:cubicBezTo>
                    <a:pt x="2572309" y="0"/>
                    <a:pt x="2579388" y="7078"/>
                    <a:pt x="2579388" y="15810"/>
                  </a:cubicBezTo>
                  <a:lnTo>
                    <a:pt x="2579388" y="1985588"/>
                  </a:lnTo>
                  <a:cubicBezTo>
                    <a:pt x="2579388" y="1989781"/>
                    <a:pt x="2577722" y="1993802"/>
                    <a:pt x="2574757" y="1996767"/>
                  </a:cubicBezTo>
                  <a:cubicBezTo>
                    <a:pt x="2571792" y="1999732"/>
                    <a:pt x="2567770" y="2001398"/>
                    <a:pt x="2563577" y="2001398"/>
                  </a:cubicBezTo>
                  <a:lnTo>
                    <a:pt x="15810" y="2001398"/>
                  </a:lnTo>
                  <a:cubicBezTo>
                    <a:pt x="11617" y="2001398"/>
                    <a:pt x="7596" y="1999732"/>
                    <a:pt x="4631" y="1996767"/>
                  </a:cubicBezTo>
                  <a:cubicBezTo>
                    <a:pt x="1666" y="1993802"/>
                    <a:pt x="0" y="1989781"/>
                    <a:pt x="0" y="1985588"/>
                  </a:cubicBezTo>
                  <a:lnTo>
                    <a:pt x="0" y="15810"/>
                  </a:lnTo>
                  <a:cubicBezTo>
                    <a:pt x="0" y="11617"/>
                    <a:pt x="1666" y="7596"/>
                    <a:pt x="4631" y="4631"/>
                  </a:cubicBezTo>
                  <a:cubicBezTo>
                    <a:pt x="7596" y="1666"/>
                    <a:pt x="11617" y="0"/>
                    <a:pt x="15810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2579387" cy="2020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462036" y="1880925"/>
            <a:ext cx="7053104" cy="459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9"/>
              </a:lnSpc>
              <a:spcBef>
                <a:spcPct val="0"/>
              </a:spcBef>
            </a:pPr>
            <a:r>
              <a:rPr lang="en-US" b="true" sz="2974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EXISTING GOVERNMENT ECOSYSTEM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26585" y="2664929"/>
            <a:ext cx="7343911" cy="6019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9419" indent="-304710" lvl="1">
              <a:lnSpc>
                <a:spcPts val="3387"/>
              </a:lnSpc>
              <a:buFont typeface="Arial"/>
              <a:buChar char="•"/>
            </a:pPr>
            <a:r>
              <a:rPr lang="en-US" b="true" sz="2822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myScheme </a:t>
            </a:r>
          </a:p>
          <a:p>
            <a:pPr algn="l">
              <a:lnSpc>
                <a:spcPts val="3387"/>
              </a:lnSpc>
            </a:pPr>
            <a:r>
              <a:rPr lang="en-US" sz="2822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         </a:t>
            </a:r>
            <a:r>
              <a:rPr lang="en-US" sz="282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for discovering government schemes</a:t>
            </a:r>
          </a:p>
          <a:p>
            <a:pPr algn="l" marL="609419" indent="-304710" lvl="1">
              <a:lnSpc>
                <a:spcPts val="3387"/>
              </a:lnSpc>
              <a:buFont typeface="Arial"/>
              <a:buChar char="•"/>
            </a:pPr>
            <a:r>
              <a:rPr lang="en-US" b="true" sz="2822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DBT Bharat </a:t>
            </a:r>
          </a:p>
          <a:p>
            <a:pPr algn="l">
              <a:lnSpc>
                <a:spcPts val="3387"/>
              </a:lnSpc>
            </a:pPr>
            <a:r>
              <a:rPr lang="en-US" sz="2822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          </a:t>
            </a:r>
            <a:r>
              <a:rPr lang="en-US" sz="282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Tracks implementation of Direct Benefit Transfer</a:t>
            </a:r>
            <a:r>
              <a:rPr lang="en-US" sz="2822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282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schemes </a:t>
            </a:r>
            <a:r>
              <a:rPr lang="en-US" sz="2822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          </a:t>
            </a:r>
          </a:p>
          <a:p>
            <a:pPr algn="l" marL="609419" indent="-304710" lvl="1">
              <a:lnSpc>
                <a:spcPts val="3387"/>
              </a:lnSpc>
              <a:buFont typeface="Arial"/>
              <a:buChar char="•"/>
            </a:pPr>
            <a:r>
              <a:rPr lang="en-US" b="true" sz="2822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India.gov.in </a:t>
            </a:r>
          </a:p>
          <a:p>
            <a:pPr algn="l">
              <a:lnSpc>
                <a:spcPts val="3387"/>
              </a:lnSpc>
            </a:pPr>
            <a:r>
              <a:rPr lang="en-US" sz="2822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          </a:t>
            </a:r>
            <a:r>
              <a:rPr lang="en-US" sz="282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Central portal providing government scheme information</a:t>
            </a:r>
          </a:p>
          <a:p>
            <a:pPr algn="l" marL="609419" indent="-304710" lvl="1">
              <a:lnSpc>
                <a:spcPts val="3387"/>
              </a:lnSpc>
              <a:buFont typeface="Arial"/>
              <a:buChar char="•"/>
            </a:pPr>
            <a:r>
              <a:rPr lang="en-US" b="true" sz="2822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data.gov.in</a:t>
            </a:r>
          </a:p>
          <a:p>
            <a:pPr algn="l">
              <a:lnSpc>
                <a:spcPts val="3387"/>
              </a:lnSpc>
            </a:pPr>
            <a:r>
              <a:rPr lang="en-US" sz="282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          </a:t>
            </a:r>
            <a:r>
              <a:rPr lang="en-US" sz="282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Government datasets and open data</a:t>
            </a:r>
          </a:p>
          <a:p>
            <a:pPr algn="l">
              <a:lnSpc>
                <a:spcPts val="3387"/>
              </a:lnSpc>
            </a:pPr>
          </a:p>
          <a:p>
            <a:pPr algn="l" marL="609419" indent="-304710" lvl="1">
              <a:lnSpc>
                <a:spcPts val="3387"/>
              </a:lnSpc>
              <a:buFont typeface="Arial"/>
              <a:buChar char="•"/>
            </a:pPr>
            <a:r>
              <a:rPr lang="en-US" b="true" sz="2822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https://nsfdc.nic.in/ </a:t>
            </a:r>
          </a:p>
          <a:p>
            <a:pPr algn="l" marL="609419" indent="-304710" lvl="1">
              <a:lnSpc>
                <a:spcPts val="3387"/>
              </a:lnSpc>
              <a:buFont typeface="Arial"/>
              <a:buChar char="•"/>
            </a:pPr>
            <a:r>
              <a:rPr lang="en-US" b="true" sz="2822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https://nsfdc.nic.in/faqs</a:t>
            </a:r>
          </a:p>
          <a:p>
            <a:pPr algn="l">
              <a:lnSpc>
                <a:spcPts val="3387"/>
              </a:lnSpc>
            </a:pPr>
          </a:p>
        </p:txBody>
      </p:sp>
      <p:sp>
        <p:nvSpPr>
          <p:cNvPr name="TextBox 24" id="24"/>
          <p:cNvSpPr txBox="true"/>
          <p:nvPr/>
        </p:nvSpPr>
        <p:spPr>
          <a:xfrm rot="0">
            <a:off x="8410993" y="1964841"/>
            <a:ext cx="8848307" cy="7419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0"/>
              </a:lnSpc>
            </a:pPr>
            <a:r>
              <a:rPr lang="en-US" sz="2342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Key Statistics &amp; References</a:t>
            </a:r>
          </a:p>
          <a:p>
            <a:pPr algn="l" marL="505740" indent="-252870" lvl="1">
              <a:lnSpc>
                <a:spcPts val="2810"/>
              </a:lnSpc>
              <a:buFont typeface="Arial"/>
              <a:buChar char="•"/>
            </a:pPr>
            <a:r>
              <a:rPr lang="en-US" sz="234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59.09 crore PMJDY beneficiaries/accounts, showing the huge potential user base for financial-service platforms.</a:t>
            </a:r>
          </a:p>
          <a:p>
            <a:pPr algn="l" marL="505740" indent="-252870" lvl="1">
              <a:lnSpc>
                <a:spcPts val="2810"/>
              </a:lnSpc>
              <a:buFont typeface="Arial"/>
              <a:buChar char="•"/>
            </a:pPr>
            <a:r>
              <a:rPr lang="en-US" sz="234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₹3.17 lakh crore in PMJDY deposits, highlighting the scale of India's formal financial ecosystem.</a:t>
            </a:r>
          </a:p>
          <a:p>
            <a:pPr algn="l" marL="505740" indent="-252870" lvl="1">
              <a:lnSpc>
                <a:spcPts val="2810"/>
              </a:lnSpc>
              <a:buFont typeface="Arial"/>
              <a:buChar char="•"/>
            </a:pPr>
            <a:r>
              <a:rPr lang="en-US" sz="234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11,556 education-loan subsidy claims in Andhra Pradesh, with about ₹31.85 crore in subsidy disbursement.</a:t>
            </a:r>
          </a:p>
          <a:p>
            <a:pPr algn="l">
              <a:lnSpc>
                <a:spcPts val="2810"/>
              </a:lnSpc>
            </a:pPr>
          </a:p>
          <a:p>
            <a:pPr algn="l">
              <a:lnSpc>
                <a:spcPts val="2810"/>
              </a:lnSpc>
            </a:pPr>
            <a:r>
              <a:rPr lang="en-US" sz="2342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Key References</a:t>
            </a:r>
          </a:p>
          <a:p>
            <a:pPr algn="l" marL="505740" indent="-252870" lvl="1">
              <a:lnSpc>
                <a:spcPts val="2810"/>
              </a:lnSpc>
              <a:buFont typeface="Arial"/>
              <a:buChar char="•"/>
            </a:pPr>
            <a:r>
              <a:rPr lang="en-US" sz="234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PM Jan-Dhan Yojana – Official Statistics</a:t>
            </a:r>
          </a:p>
          <a:p>
            <a:pPr algn="l" marL="505740" indent="-252870" lvl="1">
              <a:lnSpc>
                <a:spcPts val="2810"/>
              </a:lnSpc>
              <a:buFont typeface="Arial"/>
              <a:buChar char="•"/>
            </a:pPr>
            <a:r>
              <a:rPr lang="en-US" sz="234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myScheme – Government Schemes Portal</a:t>
            </a:r>
          </a:p>
          <a:p>
            <a:pPr algn="l" marL="505740" indent="-252870" lvl="1">
              <a:lnSpc>
                <a:spcPts val="2810"/>
              </a:lnSpc>
              <a:buFont typeface="Arial"/>
              <a:buChar char="•"/>
            </a:pPr>
            <a:r>
              <a:rPr lang="en-US" sz="234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National Scholarship Portal</a:t>
            </a:r>
          </a:p>
          <a:p>
            <a:pPr algn="l" marL="505740" indent="-252870" lvl="1">
              <a:lnSpc>
                <a:spcPts val="2810"/>
              </a:lnSpc>
              <a:buFont typeface="Arial"/>
              <a:buChar char="•"/>
            </a:pPr>
            <a:r>
              <a:rPr lang="en-US" sz="234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PM-Vidyalaxmi</a:t>
            </a:r>
          </a:p>
          <a:p>
            <a:pPr algn="l" marL="505740" indent="-252870" lvl="1">
              <a:lnSpc>
                <a:spcPts val="2810"/>
              </a:lnSpc>
              <a:buFont typeface="Arial"/>
              <a:buChar char="•"/>
            </a:pPr>
            <a:r>
              <a:rPr lang="en-US" sz="234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JanSamarth</a:t>
            </a:r>
          </a:p>
          <a:p>
            <a:pPr algn="l" marL="505740" indent="-252870" lvl="1">
              <a:lnSpc>
                <a:spcPts val="2810"/>
              </a:lnSpc>
              <a:buFont typeface="Arial"/>
              <a:buChar char="•"/>
            </a:pPr>
            <a:r>
              <a:rPr lang="en-US" sz="234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RBI Statistics</a:t>
            </a:r>
          </a:p>
          <a:p>
            <a:pPr algn="l">
              <a:lnSpc>
                <a:spcPts val="2810"/>
              </a:lnSpc>
            </a:pPr>
          </a:p>
          <a:p>
            <a:pPr algn="l">
              <a:lnSpc>
                <a:spcPts val="2810"/>
              </a:lnSpc>
            </a:pPr>
            <a:r>
              <a:rPr lang="en-US" sz="234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These statistics demonstrate the large beneficiary base and significant financial support available, while existing portals show that scheme discovery and applications are fragmented—supporting the need for your proposed one-stop personalized platform.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DAHTgv1IGJ0</dc:identifier>
  <dcterms:modified xsi:type="dcterms:W3CDTF">2011-08-01T06:04:30Z</dcterms:modified>
  <cp:revision>1</cp:revision>
  <dc:title>SIH2026-IDEA-Presentation-Format.pptx</dc:title>
</cp:coreProperties>
</file>
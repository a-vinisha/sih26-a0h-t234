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Times New Roman" charset="1" panose="02020603050405020304"/>
      <p:regular r:id="rId22"/>
    </p:embeddedFont>
    <p:embeddedFont>
      <p:font typeface="Arial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6995" y="2287372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83121" y="4118943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96929" y="1000125"/>
            <a:ext cx="17191459" cy="155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1"/>
              </a:lnSpc>
            </a:pPr>
          </a:p>
          <a:p>
            <a:pPr algn="ctr">
              <a:lnSpc>
                <a:spcPts val="6061"/>
              </a:lnSpc>
            </a:pPr>
            <a:r>
              <a:rPr lang="en-US" sz="50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Scheme Matching for Marginalized Entrepreneurs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51699" y="-706308"/>
            <a:ext cx="12932906" cy="3010615"/>
            <a:chOff x="0" y="0"/>
            <a:chExt cx="17839897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39897" cy="4152900"/>
            </a:xfrm>
            <a:custGeom>
              <a:avLst/>
              <a:gdLst/>
              <a:ahLst/>
              <a:cxnLst/>
              <a:rect r="r" b="b" t="t" l="l"/>
              <a:pathLst>
                <a:path h="4152900" w="17839897">
                  <a:moveTo>
                    <a:pt x="0" y="0"/>
                  </a:moveTo>
                  <a:lnTo>
                    <a:pt x="17839897" y="0"/>
                  </a:lnTo>
                  <a:lnTo>
                    <a:pt x="17839897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-1618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7839897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4059" y="157425"/>
            <a:ext cx="2055316" cy="1742551"/>
          </a:xfrm>
          <a:custGeom>
            <a:avLst/>
            <a:gdLst/>
            <a:ahLst/>
            <a:cxnLst/>
            <a:rect r="r" b="b" t="t" l="l"/>
            <a:pathLst>
              <a:path h="1742551" w="2055316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2922" y="2776238"/>
            <a:ext cx="14502832" cy="680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</a:p>
          <a:p>
            <a:pPr algn="just" marL="557359" indent="-278679" lvl="1">
              <a:lnSpc>
                <a:spcPts val="7391"/>
              </a:lnSpc>
              <a:buFont typeface="Arial"/>
              <a:buChar char="•"/>
            </a:pPr>
            <a:r>
              <a:rPr lang="en-US" b="true" sz="30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SIH26092</a:t>
            </a:r>
          </a:p>
          <a:p>
            <a:pPr algn="just" marL="557359" indent="-278679" lvl="1">
              <a:lnSpc>
                <a:spcPts val="7391"/>
              </a:lnSpc>
              <a:buFont typeface="Arial"/>
              <a:buChar char="•"/>
            </a:pPr>
            <a:r>
              <a:rPr lang="en-US" b="true" sz="30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algn="just">
              <a:lnSpc>
                <a:spcPts val="7391"/>
              </a:lnSpc>
            </a:pPr>
            <a:r>
              <a:rPr lang="en-US" sz="307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AI-Driven Scheme Matching for Marginalized Entrepreneurs</a:t>
            </a:r>
          </a:p>
          <a:p>
            <a:pPr algn="just" marL="557359" indent="-278679" lvl="1">
              <a:lnSpc>
                <a:spcPts val="7391"/>
              </a:lnSpc>
              <a:buFont typeface="Arial"/>
              <a:buChar char="•"/>
            </a:pPr>
            <a:r>
              <a:rPr lang="en-US" b="true" sz="30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Automation</a:t>
            </a:r>
          </a:p>
          <a:p>
            <a:pPr algn="just" marL="557359" indent="-278679" lvl="1">
              <a:lnSpc>
                <a:spcPts val="7391"/>
              </a:lnSpc>
              <a:buFont typeface="Arial"/>
              <a:buChar char="•"/>
            </a:pPr>
            <a:r>
              <a:rPr lang="en-US" b="true" sz="30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57359" indent="-278679" lvl="1">
              <a:lnSpc>
                <a:spcPts val="7391"/>
              </a:lnSpc>
              <a:buFont typeface="Arial"/>
              <a:buChar char="•"/>
            </a:pPr>
            <a:r>
              <a:rPr lang="en-US" b="true" sz="30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557359" indent="-278679" lvl="1">
              <a:lnSpc>
                <a:spcPts val="7391"/>
              </a:lnSpc>
              <a:buFont typeface="Arial"/>
              <a:buChar char="•"/>
            </a:pPr>
            <a:r>
              <a:rPr lang="en-US" b="true" sz="307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DataDrift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23109" y="157425"/>
            <a:ext cx="2055316" cy="1742551"/>
          </a:xfrm>
          <a:custGeom>
            <a:avLst/>
            <a:gdLst/>
            <a:ahLst/>
            <a:cxnLst/>
            <a:rect r="r" b="b" t="t" l="l"/>
            <a:pathLst>
              <a:path h="1742551" w="2055316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32736" y="8637593"/>
            <a:ext cx="18177639" cy="754756"/>
          </a:xfrm>
          <a:custGeom>
            <a:avLst/>
            <a:gdLst/>
            <a:ahLst/>
            <a:cxnLst/>
            <a:rect r="r" b="b" t="t" l="l"/>
            <a:pathLst>
              <a:path h="754756" w="18177639">
                <a:moveTo>
                  <a:pt x="0" y="0"/>
                </a:moveTo>
                <a:lnTo>
                  <a:pt x="18177639" y="0"/>
                </a:lnTo>
                <a:lnTo>
                  <a:pt x="18177639" y="754756"/>
                </a:lnTo>
                <a:lnTo>
                  <a:pt x="0" y="754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692" r="0" b="-2569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08249" y="1604700"/>
            <a:ext cx="1239170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9"/>
              </a:lnSpc>
              <a:spcBef>
                <a:spcPct val="0"/>
              </a:spcBef>
            </a:pPr>
            <a:r>
              <a:rPr lang="en-US" b="true" sz="3657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One Platform. One Personalized Financial Path.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8673" y="2606547"/>
            <a:ext cx="15687556" cy="530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1"/>
              </a:lnSpc>
            </a:pPr>
            <a:r>
              <a:rPr lang="en-US" b="true" sz="2318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  <a:p>
            <a:pPr algn="l">
              <a:lnSpc>
                <a:spcPts val="2781"/>
              </a:lnSpc>
            </a:pPr>
          </a:p>
          <a:p>
            <a:pPr algn="l">
              <a:lnSpc>
                <a:spcPts val="2781"/>
              </a:lnSpc>
            </a:pPr>
            <a:r>
              <a:rPr lang="en-US" sz="2318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  <a:p>
            <a:pPr algn="l">
              <a:lnSpc>
                <a:spcPts val="2781"/>
              </a:lnSpc>
            </a:pPr>
            <a:r>
              <a:rPr lang="en-US" sz="2318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Fragmented access: Beneficiaries must navigate multiple schemes, eligibility criteria and channel partners.</a:t>
            </a:r>
          </a:p>
          <a:p>
            <a:pPr algn="l">
              <a:lnSpc>
                <a:spcPts val="2781"/>
              </a:lnSpc>
            </a:pPr>
            <a:r>
              <a:rPr lang="en-US" sz="2318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Poor decision support: It is difficult to determine the most suitable financial option and its affordability.</a:t>
            </a:r>
          </a:p>
          <a:p>
            <a:pPr algn="l">
              <a:lnSpc>
                <a:spcPts val="2781"/>
              </a:lnSpc>
            </a:pPr>
            <a:r>
              <a:rPr lang="en-US" sz="2318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Application friction: Document requirements and partner selection can create delays, errors and repeated visits.</a:t>
            </a:r>
          </a:p>
          <a:p>
            <a:pPr algn="l">
              <a:lnSpc>
                <a:spcPts val="2781"/>
              </a:lnSpc>
            </a:pPr>
            <a:r>
              <a:rPr lang="en-US" sz="2318" u="sng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OUR SOLUTION</a:t>
            </a:r>
          </a:p>
          <a:p>
            <a:pPr algn="l">
              <a:lnSpc>
                <a:spcPts val="2781"/>
              </a:lnSpc>
            </a:pPr>
            <a:r>
              <a:rPr lang="en-US" sz="2318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One personalized platform that matches beneficiaries with suitable loans, subsidies and scholarships.</a:t>
            </a:r>
          </a:p>
          <a:p>
            <a:pPr algn="l">
              <a:lnSpc>
                <a:spcPts val="2781"/>
              </a:lnSpc>
            </a:pPr>
            <a:r>
              <a:rPr lang="en-US" sz="2318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Supports the journey from scheme selection → financial planning → document readiness → partner selection.</a:t>
            </a:r>
          </a:p>
          <a:p>
            <a:pPr algn="l">
              <a:lnSpc>
                <a:spcPts val="2781"/>
              </a:lnSpc>
            </a:pPr>
            <a:r>
              <a:rPr lang="en-US" sz="2318" b="true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Connects beneficiaries with suitable SCAs / Banks / NBFC-MFIs for application.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b="true" sz="2318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</a:t>
            </a:r>
            <a:r>
              <a:rPr lang="en-US" b="true" sz="2318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 OUR SOLUTION IS BETTER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b="true" sz="2318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Beyond discovery: recommends the most suitable path, not just available schemes.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b="true" sz="2318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Decision before application: comparison, affordability and What-If analysis help users evaluate options first.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b="true" sz="2318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End-to-end guidance: Need → Scheme → Plan → Documents → Partner → Application.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b="true" sz="2318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Bottom USP.From finding a scheme to finding the right financial path.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532" y="157425"/>
            <a:ext cx="2055316" cy="1742551"/>
          </a:xfrm>
          <a:custGeom>
            <a:avLst/>
            <a:gdLst/>
            <a:ahLst/>
            <a:cxnLst/>
            <a:rect r="r" b="b" t="t" l="l"/>
            <a:pathLst>
              <a:path h="1742551" w="2055316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-90521" y="1552343"/>
            <a:ext cx="18469042" cy="8357229"/>
          </a:xfrm>
          <a:custGeom>
            <a:avLst/>
            <a:gdLst/>
            <a:ahLst/>
            <a:cxnLst/>
            <a:rect r="r" b="b" t="t" l="l"/>
            <a:pathLst>
              <a:path h="8357229" w="18469042">
                <a:moveTo>
                  <a:pt x="0" y="0"/>
                </a:moveTo>
                <a:lnTo>
                  <a:pt x="18469042" y="0"/>
                </a:lnTo>
                <a:lnTo>
                  <a:pt x="18469042" y="8357229"/>
                </a:lnTo>
                <a:lnTo>
                  <a:pt x="0" y="8357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19" r="0" b="-1519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8945" y="67853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04059" y="157425"/>
            <a:ext cx="2055316" cy="1742551"/>
          </a:xfrm>
          <a:custGeom>
            <a:avLst/>
            <a:gdLst/>
            <a:ahLst/>
            <a:cxnLst/>
            <a:rect r="r" b="b" t="t" l="l"/>
            <a:pathLst>
              <a:path h="1742551" w="2055316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H="true">
            <a:off x="8798545" y="1782353"/>
            <a:ext cx="0" cy="71372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375300" y="1782353"/>
            <a:ext cx="8172665" cy="1279918"/>
            <a:chOff x="0" y="0"/>
            <a:chExt cx="2152472" cy="3370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2472" cy="337098"/>
            </a:xfrm>
            <a:custGeom>
              <a:avLst/>
              <a:gdLst/>
              <a:ahLst/>
              <a:cxnLst/>
              <a:rect r="r" b="b" t="t" l="l"/>
              <a:pathLst>
                <a:path h="337098" w="2152472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288786"/>
                  </a:lnTo>
                  <a:cubicBezTo>
                    <a:pt x="2152472" y="315468"/>
                    <a:pt x="2130841" y="337098"/>
                    <a:pt x="2104160" y="337098"/>
                  </a:cubicBezTo>
                  <a:lnTo>
                    <a:pt x="48312" y="337098"/>
                  </a:lnTo>
                  <a:cubicBezTo>
                    <a:pt x="35499" y="337098"/>
                    <a:pt x="23211" y="332008"/>
                    <a:pt x="14150" y="322947"/>
                  </a:cubicBezTo>
                  <a:cubicBezTo>
                    <a:pt x="5090" y="313887"/>
                    <a:pt x="0" y="301599"/>
                    <a:pt x="0" y="288786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52472" cy="35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75300" y="3214671"/>
            <a:ext cx="8172665" cy="1495474"/>
            <a:chOff x="0" y="0"/>
            <a:chExt cx="2152472" cy="3938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2472" cy="393870"/>
            </a:xfrm>
            <a:custGeom>
              <a:avLst/>
              <a:gdLst/>
              <a:ahLst/>
              <a:cxnLst/>
              <a:rect r="r" b="b" t="t" l="l"/>
              <a:pathLst>
                <a:path h="393870" w="2152472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345558"/>
                  </a:lnTo>
                  <a:cubicBezTo>
                    <a:pt x="2152472" y="372240"/>
                    <a:pt x="2130841" y="393870"/>
                    <a:pt x="2104160" y="393870"/>
                  </a:cubicBezTo>
                  <a:lnTo>
                    <a:pt x="48312" y="393870"/>
                  </a:lnTo>
                  <a:cubicBezTo>
                    <a:pt x="21630" y="393870"/>
                    <a:pt x="0" y="372240"/>
                    <a:pt x="0" y="345558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52472" cy="41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75300" y="4862529"/>
            <a:ext cx="8172665" cy="2391818"/>
            <a:chOff x="0" y="0"/>
            <a:chExt cx="2152472" cy="6299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2472" cy="629944"/>
            </a:xfrm>
            <a:custGeom>
              <a:avLst/>
              <a:gdLst/>
              <a:ahLst/>
              <a:cxnLst/>
              <a:rect r="r" b="b" t="t" l="l"/>
              <a:pathLst>
                <a:path h="629944" w="2152472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581632"/>
                  </a:lnTo>
                  <a:cubicBezTo>
                    <a:pt x="2152472" y="608314"/>
                    <a:pt x="2130841" y="629944"/>
                    <a:pt x="2104160" y="629944"/>
                  </a:cubicBezTo>
                  <a:lnTo>
                    <a:pt x="48312" y="629944"/>
                  </a:lnTo>
                  <a:cubicBezTo>
                    <a:pt x="21630" y="629944"/>
                    <a:pt x="0" y="608314"/>
                    <a:pt x="0" y="581632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152472" cy="648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831761" y="5186395"/>
            <a:ext cx="5089579" cy="1833310"/>
          </a:xfrm>
          <a:custGeom>
            <a:avLst/>
            <a:gdLst/>
            <a:ahLst/>
            <a:cxnLst/>
            <a:rect r="r" b="b" t="t" l="l"/>
            <a:pathLst>
              <a:path h="1833310" w="5089579">
                <a:moveTo>
                  <a:pt x="0" y="0"/>
                </a:moveTo>
                <a:lnTo>
                  <a:pt x="5089579" y="0"/>
                </a:lnTo>
                <a:lnTo>
                  <a:pt x="5089579" y="1833310"/>
                </a:lnTo>
                <a:lnTo>
                  <a:pt x="0" y="1833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2" t="-1415" r="-12656" b="-1175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32991" y="1880925"/>
            <a:ext cx="52768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of the feasibility of the idea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2991" y="4014771"/>
            <a:ext cx="426104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challenges and risk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5639" y="2452671"/>
            <a:ext cx="724796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521" indent="-236261" lvl="1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(less than 5L) and project cost decide the scheme- simple rule-based logic,not heavy AI.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5639" y="3233721"/>
            <a:ext cx="697426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521" indent="-236261" lvl="1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partner locator needs only a Maps API layered on the existing 100+ channel Partner directory.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5639" y="4586304"/>
            <a:ext cx="697426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521" indent="-236261" lvl="1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Partners dont publish live NPA or overdue status ,so a partner’s standing on file can go stale.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463647"/>
            <a:ext cx="703120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521" indent="-236261" lvl="1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Micro,Term and Education schemes overlap in purpose-a wrong cost estimate misroutes applicants.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2991" y="6162452"/>
            <a:ext cx="62151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Strategies for overcoming these challenges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6901922"/>
            <a:ext cx="703120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521" indent="-236261" lvl="1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monthly eligibility and NPA data-sharing agreements directly with SCAs ,PSBs,RRBs,and NBFC-MFIs.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7768836"/>
            <a:ext cx="730490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521" indent="-236261" lvl="1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one-screen confirmation of why a scheme fits - income,cost,purpose-catches errors early.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78301" y="1880925"/>
            <a:ext cx="314303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u="sng">
                <a:solidFill>
                  <a:srgbClr val="000000">
                    <a:alpha val="67843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₹ 30 lakh crore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75300" y="2452671"/>
            <a:ext cx="817266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Addressable MSME credit gap in India -24% of total credit demant unmet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78301" y="3319446"/>
            <a:ext cx="314303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sng">
                <a:solidFill>
                  <a:srgbClr val="000000">
                    <a:alpha val="67843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35% vs 20%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75300" y="3871896"/>
            <a:ext cx="817266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Credit gap for women-led MSMEs vs male-led MSMEs - the widest demographic gap on record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40000" y="5262579"/>
            <a:ext cx="2133600" cy="152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India’s MSME credit penetration ,vs China and the US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75300" y="7431889"/>
            <a:ext cx="8172665" cy="1352583"/>
            <a:chOff x="0" y="0"/>
            <a:chExt cx="2152472" cy="3562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52472" cy="356236"/>
            </a:xfrm>
            <a:custGeom>
              <a:avLst/>
              <a:gdLst/>
              <a:ahLst/>
              <a:cxnLst/>
              <a:rect r="r" b="b" t="t" l="l"/>
              <a:pathLst>
                <a:path h="356236" w="2152472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307924"/>
                  </a:lnTo>
                  <a:cubicBezTo>
                    <a:pt x="2152472" y="334606"/>
                    <a:pt x="2130841" y="356236"/>
                    <a:pt x="2104160" y="356236"/>
                  </a:cubicBezTo>
                  <a:lnTo>
                    <a:pt x="48312" y="356236"/>
                  </a:lnTo>
                  <a:cubicBezTo>
                    <a:pt x="35499" y="356236"/>
                    <a:pt x="23211" y="351146"/>
                    <a:pt x="14150" y="342086"/>
                  </a:cubicBezTo>
                  <a:cubicBezTo>
                    <a:pt x="5090" y="333025"/>
                    <a:pt x="0" y="320737"/>
                    <a:pt x="0" y="307924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152472" cy="375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778301" y="7460358"/>
            <a:ext cx="314303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sng">
                <a:solidFill>
                  <a:srgbClr val="000000">
                    <a:alpha val="67843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35%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63488" y="7965183"/>
            <a:ext cx="817266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Micro-enterprices still unregistered/informal,citing low awarness of schemes as a key reason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04059" y="157425"/>
            <a:ext cx="2055316" cy="1742551"/>
          </a:xfrm>
          <a:custGeom>
            <a:avLst/>
            <a:gdLst/>
            <a:ahLst/>
            <a:cxnLst/>
            <a:rect r="r" b="b" t="t" l="l"/>
            <a:pathLst>
              <a:path h="1742551" w="2055316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04059" y="1792640"/>
            <a:ext cx="8569802" cy="3095399"/>
            <a:chOff x="0" y="0"/>
            <a:chExt cx="2257067" cy="8152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7067" cy="815249"/>
            </a:xfrm>
            <a:custGeom>
              <a:avLst/>
              <a:gdLst/>
              <a:ahLst/>
              <a:cxnLst/>
              <a:rect r="r" b="b" t="t" l="l"/>
              <a:pathLst>
                <a:path h="815249" w="2257067">
                  <a:moveTo>
                    <a:pt x="34329" y="0"/>
                  </a:moveTo>
                  <a:lnTo>
                    <a:pt x="2222738" y="0"/>
                  </a:lnTo>
                  <a:cubicBezTo>
                    <a:pt x="2231843" y="0"/>
                    <a:pt x="2240575" y="3617"/>
                    <a:pt x="2247012" y="10055"/>
                  </a:cubicBezTo>
                  <a:cubicBezTo>
                    <a:pt x="2253450" y="16493"/>
                    <a:pt x="2257067" y="25224"/>
                    <a:pt x="2257067" y="34329"/>
                  </a:cubicBezTo>
                  <a:lnTo>
                    <a:pt x="2257067" y="780920"/>
                  </a:lnTo>
                  <a:cubicBezTo>
                    <a:pt x="2257067" y="799879"/>
                    <a:pt x="2241698" y="815249"/>
                    <a:pt x="2222738" y="815249"/>
                  </a:cubicBezTo>
                  <a:lnTo>
                    <a:pt x="34329" y="815249"/>
                  </a:lnTo>
                  <a:cubicBezTo>
                    <a:pt x="15370" y="815249"/>
                    <a:pt x="0" y="799879"/>
                    <a:pt x="0" y="780920"/>
                  </a:cubicBezTo>
                  <a:lnTo>
                    <a:pt x="0" y="34329"/>
                  </a:lnTo>
                  <a:cubicBezTo>
                    <a:pt x="0" y="15370"/>
                    <a:pt x="15370" y="0"/>
                    <a:pt x="34329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257067" cy="83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0" y="4888301"/>
            <a:ext cx="18288000" cy="2256312"/>
          </a:xfrm>
          <a:custGeom>
            <a:avLst/>
            <a:gdLst/>
            <a:ahLst/>
            <a:cxnLst/>
            <a:rect r="r" b="b" t="t" l="l"/>
            <a:pathLst>
              <a:path h="2256312" w="18288000">
                <a:moveTo>
                  <a:pt x="0" y="0"/>
                </a:moveTo>
                <a:lnTo>
                  <a:pt x="18288000" y="0"/>
                </a:lnTo>
                <a:lnTo>
                  <a:pt x="18288000" y="2256312"/>
                </a:lnTo>
                <a:lnTo>
                  <a:pt x="0" y="22563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144000" y="1792640"/>
            <a:ext cx="8900903" cy="3108442"/>
            <a:chOff x="0" y="0"/>
            <a:chExt cx="2344271" cy="818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4271" cy="818684"/>
            </a:xfrm>
            <a:custGeom>
              <a:avLst/>
              <a:gdLst/>
              <a:ahLst/>
              <a:cxnLst/>
              <a:rect r="r" b="b" t="t" l="l"/>
              <a:pathLst>
                <a:path h="818684" w="2344271">
                  <a:moveTo>
                    <a:pt x="25224" y="0"/>
                  </a:moveTo>
                  <a:lnTo>
                    <a:pt x="2319047" y="0"/>
                  </a:lnTo>
                  <a:cubicBezTo>
                    <a:pt x="2332978" y="0"/>
                    <a:pt x="2344271" y="11293"/>
                    <a:pt x="2344271" y="25224"/>
                  </a:cubicBezTo>
                  <a:lnTo>
                    <a:pt x="2344271" y="793460"/>
                  </a:lnTo>
                  <a:cubicBezTo>
                    <a:pt x="2344271" y="807391"/>
                    <a:pt x="2332978" y="818684"/>
                    <a:pt x="2319047" y="818684"/>
                  </a:cubicBezTo>
                  <a:lnTo>
                    <a:pt x="25224" y="818684"/>
                  </a:lnTo>
                  <a:cubicBezTo>
                    <a:pt x="11293" y="818684"/>
                    <a:pt x="0" y="807391"/>
                    <a:pt x="0" y="793460"/>
                  </a:cubicBezTo>
                  <a:lnTo>
                    <a:pt x="0" y="25224"/>
                  </a:lnTo>
                  <a:cubicBezTo>
                    <a:pt x="0" y="11293"/>
                    <a:pt x="11293" y="0"/>
                    <a:pt x="25224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344271" cy="837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0" y="2078426"/>
            <a:ext cx="453816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WITH OUR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059" y="2849951"/>
            <a:ext cx="917857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151" indent="-309576" lvl="1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Enter profile once, get matched everywhere</a:t>
            </a:r>
          </a:p>
          <a:p>
            <a:pPr algn="l" marL="619151" indent="-309576" lvl="1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Automatic, plain-language eligibility analysis</a:t>
            </a:r>
          </a:p>
          <a:p>
            <a:pPr algn="l" marL="619151" indent="-309576" lvl="1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Personalized, ranked scheme recommendations</a:t>
            </a:r>
          </a:p>
          <a:p>
            <a:pPr algn="l" marL="619151" indent="-309576" lvl="1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Discover potentially complementary schemes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0" y="7268438"/>
            <a:ext cx="53567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8"/>
              </a:lnSpc>
              <a:spcBef>
                <a:spcPct val="0"/>
              </a:spcBef>
            </a:pPr>
            <a:r>
              <a:rPr lang="en-US" b="true" sz="33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EXPECTED IMPACT             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0742" y="7953723"/>
            <a:ext cx="805485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utilization of government schemes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 in entrepreneurship &amp; MSME growth 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Employment generation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73861" y="7953723"/>
            <a:ext cx="866507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Inclusive and sustainable economic growth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support model across states, languages &amp; sectors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75300" y="1944963"/>
            <a:ext cx="802977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GOVERNANCE &amp; POLICY INTELLIGENCE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05025" y="2680176"/>
            <a:ext cx="8724133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614" indent="-293807" lvl="1">
              <a:lnSpc>
                <a:spcPts val="3266"/>
              </a:lnSpc>
              <a:buAutoNum type="arabicPeriod" startAt="1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Strategic government value</a:t>
            </a:r>
          </a:p>
          <a:p>
            <a:pPr algn="l" marL="587614" indent="-293807" lvl="1">
              <a:lnSpc>
                <a:spcPts val="3266"/>
              </a:lnSpc>
              <a:buAutoNum type="arabicPeriod" startAt="1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Policy &amp; governance insights</a:t>
            </a:r>
          </a:p>
          <a:p>
            <a:pPr algn="l" marL="587614" indent="-293807" lvl="1">
              <a:lnSpc>
                <a:spcPts val="3266"/>
              </a:lnSpc>
              <a:buAutoNum type="arabicPeriod" startAt="1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Government decision support</a:t>
            </a:r>
          </a:p>
          <a:p>
            <a:pPr algn="l" marL="587614" indent="-293807" lvl="1">
              <a:lnSpc>
                <a:spcPts val="3266"/>
              </a:lnSpc>
              <a:buAutoNum type="arabicPeriod" startAt="1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System-level governance benefits</a:t>
            </a:r>
          </a:p>
          <a:p>
            <a:pPr algn="l" marL="587614" indent="-293807" lvl="1">
              <a:lnSpc>
                <a:spcPts val="3266"/>
              </a:lnSpc>
              <a:buAutoNum type="arabicPeriod" startAt="1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Policy intelligence &amp; oversight</a:t>
            </a:r>
          </a:p>
          <a:p>
            <a:pPr algn="l">
              <a:lnSpc>
                <a:spcPts val="326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04059" y="157425"/>
            <a:ext cx="2055316" cy="1742551"/>
          </a:xfrm>
          <a:custGeom>
            <a:avLst/>
            <a:gdLst/>
            <a:ahLst/>
            <a:cxnLst/>
            <a:rect r="r" b="b" t="t" l="l"/>
            <a:pathLst>
              <a:path h="1742551" w="2055316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04059" y="1785759"/>
            <a:ext cx="7863837" cy="7472541"/>
            <a:chOff x="0" y="0"/>
            <a:chExt cx="957107" cy="9093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7107" cy="909320"/>
            </a:xfrm>
            <a:custGeom>
              <a:avLst/>
              <a:gdLst/>
              <a:ahLst/>
              <a:cxnLst/>
              <a:rect r="r" b="b" t="t" l="l"/>
              <a:pathLst>
                <a:path h="909320" w="957107">
                  <a:moveTo>
                    <a:pt x="957107" y="39380"/>
                  </a:moveTo>
                  <a:lnTo>
                    <a:pt x="957107" y="869940"/>
                  </a:lnTo>
                  <a:cubicBezTo>
                    <a:pt x="957107" y="880384"/>
                    <a:pt x="952958" y="890401"/>
                    <a:pt x="945572" y="897786"/>
                  </a:cubicBezTo>
                  <a:cubicBezTo>
                    <a:pt x="938187" y="905171"/>
                    <a:pt x="928171" y="909320"/>
                    <a:pt x="917727" y="909320"/>
                  </a:cubicBezTo>
                  <a:lnTo>
                    <a:pt x="39380" y="909320"/>
                  </a:lnTo>
                  <a:cubicBezTo>
                    <a:pt x="28936" y="909320"/>
                    <a:pt x="18919" y="905171"/>
                    <a:pt x="11534" y="897786"/>
                  </a:cubicBezTo>
                  <a:cubicBezTo>
                    <a:pt x="4149" y="890401"/>
                    <a:pt x="0" y="880384"/>
                    <a:pt x="0" y="869940"/>
                  </a:cubicBezTo>
                  <a:lnTo>
                    <a:pt x="0" y="39380"/>
                  </a:lnTo>
                  <a:cubicBezTo>
                    <a:pt x="0" y="28936"/>
                    <a:pt x="4149" y="18919"/>
                    <a:pt x="11534" y="11534"/>
                  </a:cubicBezTo>
                  <a:cubicBezTo>
                    <a:pt x="18919" y="4149"/>
                    <a:pt x="28936" y="0"/>
                    <a:pt x="39380" y="0"/>
                  </a:cubicBezTo>
                  <a:lnTo>
                    <a:pt x="917727" y="0"/>
                  </a:lnTo>
                  <a:cubicBezTo>
                    <a:pt x="939476" y="0"/>
                    <a:pt x="957107" y="17631"/>
                    <a:pt x="957107" y="3938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957107" cy="928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51291" y="1785759"/>
            <a:ext cx="9793612" cy="7599058"/>
            <a:chOff x="0" y="0"/>
            <a:chExt cx="2579387" cy="20013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79388" cy="2001398"/>
            </a:xfrm>
            <a:custGeom>
              <a:avLst/>
              <a:gdLst/>
              <a:ahLst/>
              <a:cxnLst/>
              <a:rect r="r" b="b" t="t" l="l"/>
              <a:pathLst>
                <a:path h="2001398" w="2579388">
                  <a:moveTo>
                    <a:pt x="15810" y="0"/>
                  </a:moveTo>
                  <a:lnTo>
                    <a:pt x="2563577" y="0"/>
                  </a:lnTo>
                  <a:cubicBezTo>
                    <a:pt x="2572309" y="0"/>
                    <a:pt x="2579388" y="7078"/>
                    <a:pt x="2579388" y="15810"/>
                  </a:cubicBezTo>
                  <a:lnTo>
                    <a:pt x="2579388" y="1985588"/>
                  </a:lnTo>
                  <a:cubicBezTo>
                    <a:pt x="2579388" y="1989781"/>
                    <a:pt x="2577722" y="1993802"/>
                    <a:pt x="2574757" y="1996767"/>
                  </a:cubicBezTo>
                  <a:cubicBezTo>
                    <a:pt x="2571792" y="1999732"/>
                    <a:pt x="2567770" y="2001398"/>
                    <a:pt x="2563577" y="2001398"/>
                  </a:cubicBezTo>
                  <a:lnTo>
                    <a:pt x="15810" y="2001398"/>
                  </a:lnTo>
                  <a:cubicBezTo>
                    <a:pt x="11617" y="2001398"/>
                    <a:pt x="7596" y="1999732"/>
                    <a:pt x="4631" y="1996767"/>
                  </a:cubicBezTo>
                  <a:cubicBezTo>
                    <a:pt x="1666" y="1993802"/>
                    <a:pt x="0" y="1989781"/>
                    <a:pt x="0" y="1985588"/>
                  </a:cubicBezTo>
                  <a:lnTo>
                    <a:pt x="0" y="15810"/>
                  </a:lnTo>
                  <a:cubicBezTo>
                    <a:pt x="0" y="11617"/>
                    <a:pt x="1666" y="7596"/>
                    <a:pt x="4631" y="4631"/>
                  </a:cubicBezTo>
                  <a:cubicBezTo>
                    <a:pt x="7596" y="1666"/>
                    <a:pt x="11617" y="0"/>
                    <a:pt x="1581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579387" cy="202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62036" y="1880925"/>
            <a:ext cx="7053104" cy="45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b="true" sz="297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EXISTING GOVERNMENT ECOSYSTEM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6585" y="2664929"/>
            <a:ext cx="7343911" cy="601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419" indent="-304710" lvl="1">
              <a:lnSpc>
                <a:spcPts val="3387"/>
              </a:lnSpc>
              <a:buFont typeface="Arial"/>
              <a:buChar char="•"/>
            </a:pPr>
            <a:r>
              <a:rPr lang="en-US" b="true" sz="282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myScheme </a:t>
            </a:r>
          </a:p>
          <a:p>
            <a:pPr algn="l">
              <a:lnSpc>
                <a:spcPts val="3387"/>
              </a:lnSpc>
            </a:pPr>
            <a:r>
              <a:rPr lang="en-US" sz="282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 discovering government schemes</a:t>
            </a:r>
          </a:p>
          <a:p>
            <a:pPr algn="l" marL="609419" indent="-304710" lvl="1">
              <a:lnSpc>
                <a:spcPts val="3387"/>
              </a:lnSpc>
              <a:buFont typeface="Arial"/>
              <a:buChar char="•"/>
            </a:pPr>
            <a:r>
              <a:rPr lang="en-US" b="true" sz="282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DBT Bharat </a:t>
            </a:r>
          </a:p>
          <a:p>
            <a:pPr algn="l">
              <a:lnSpc>
                <a:spcPts val="3387"/>
              </a:lnSpc>
            </a:pPr>
            <a:r>
              <a:rPr lang="en-US" sz="282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Tracks implementation of Direct Benefit Transfer</a:t>
            </a:r>
            <a:r>
              <a:rPr lang="en-US" sz="282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schemes </a:t>
            </a:r>
            <a:r>
              <a:rPr lang="en-US" sz="282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</a:t>
            </a:r>
          </a:p>
          <a:p>
            <a:pPr algn="l" marL="609419" indent="-304710" lvl="1">
              <a:lnSpc>
                <a:spcPts val="3387"/>
              </a:lnSpc>
              <a:buFont typeface="Arial"/>
              <a:buChar char="•"/>
            </a:pPr>
            <a:r>
              <a:rPr lang="en-US" b="true" sz="282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India.gov.in </a:t>
            </a:r>
          </a:p>
          <a:p>
            <a:pPr algn="l">
              <a:lnSpc>
                <a:spcPts val="3387"/>
              </a:lnSpc>
            </a:pPr>
            <a:r>
              <a:rPr lang="en-US" sz="282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Central portal providing government scheme information</a:t>
            </a:r>
          </a:p>
          <a:p>
            <a:pPr algn="l" marL="609419" indent="-304710" lvl="1">
              <a:lnSpc>
                <a:spcPts val="3387"/>
              </a:lnSpc>
              <a:buFont typeface="Arial"/>
              <a:buChar char="•"/>
            </a:pPr>
            <a:r>
              <a:rPr lang="en-US" b="true" sz="282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data.gov.in</a:t>
            </a:r>
          </a:p>
          <a:p>
            <a:pPr algn="l">
              <a:lnSpc>
                <a:spcPts val="3387"/>
              </a:lnSpc>
            </a:pP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Government datasets and open data</a:t>
            </a:r>
          </a:p>
          <a:p>
            <a:pPr algn="l">
              <a:lnSpc>
                <a:spcPts val="3387"/>
              </a:lnSpc>
            </a:pPr>
          </a:p>
          <a:p>
            <a:pPr algn="l" marL="609419" indent="-304710" lvl="1">
              <a:lnSpc>
                <a:spcPts val="3387"/>
              </a:lnSpc>
              <a:buFont typeface="Arial"/>
              <a:buChar char="•"/>
            </a:pPr>
            <a:r>
              <a:rPr lang="en-US" b="true" sz="282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https://nsfdc.nic.in/ </a:t>
            </a:r>
          </a:p>
          <a:p>
            <a:pPr algn="l" marL="609419" indent="-304710" lvl="1">
              <a:lnSpc>
                <a:spcPts val="3387"/>
              </a:lnSpc>
              <a:buFont typeface="Arial"/>
              <a:buChar char="•"/>
            </a:pPr>
            <a:r>
              <a:rPr lang="en-US" b="true" sz="282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https://nsfdc.nic.in/faqs</a:t>
            </a:r>
          </a:p>
          <a:p>
            <a:pPr algn="l">
              <a:lnSpc>
                <a:spcPts val="338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410993" y="1964841"/>
            <a:ext cx="8848307" cy="741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34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Statistics &amp; References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59.09 crore PMJDY beneficiaries/accounts, showing the huge potential user base for financial-service platforms.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₹3.17 lakh crore in PMJDY deposits, highlighting the scale of India's formal financial ecosystem.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11,556 education-loan subsidy claims in Andhra Pradesh, with about ₹31.85 crore in subsidy disbursement.</a:t>
            </a:r>
          </a:p>
          <a:p>
            <a:pPr algn="l">
              <a:lnSpc>
                <a:spcPts val="2810"/>
              </a:lnSpc>
            </a:pPr>
          </a:p>
          <a:p>
            <a:pPr algn="l">
              <a:lnSpc>
                <a:spcPts val="2810"/>
              </a:lnSpc>
            </a:pPr>
            <a:r>
              <a:rPr lang="en-US" sz="234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References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PM Jan-Dhan Yojana – Official Statistics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myScheme – Government Schemes Portal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National Scholarship Portal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PM-Vidyalaxmi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JanSamarth</a:t>
            </a:r>
          </a:p>
          <a:p>
            <a:pPr algn="l" marL="505740" indent="-252870" lvl="1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RBI Statistics</a:t>
            </a:r>
          </a:p>
          <a:p>
            <a:pPr algn="l">
              <a:lnSpc>
                <a:spcPts val="2810"/>
              </a:lnSpc>
            </a:pPr>
          </a:p>
          <a:p>
            <a:pPr algn="l">
              <a:lnSpc>
                <a:spcPts val="2810"/>
              </a:lnSpc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These statistics demonstrate the large beneficiary base and significant financial support available, while existing portals show that scheme discovery and applications are fragmented—supporting the need for your proposed one-stop personalized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DAHTgv1IGJ0</dc:identifier>
  <dcterms:modified xsi:type="dcterms:W3CDTF">2011-08-01T06:04:30Z</dcterms:modified>
  <cp:revision>1</cp:revision>
  <dc:title>SIH2026-IDEA-Presentation-Format.pptx</dc:title>
</cp:coreProperties>
</file>